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2" r:id="rId7"/>
    <p:sldId id="264" r:id="rId8"/>
    <p:sldId id="267" r:id="rId9"/>
    <p:sldId id="268" r:id="rId10"/>
    <p:sldId id="269" r:id="rId11"/>
    <p:sldId id="270" r:id="rId12"/>
    <p:sldId id="271" r:id="rId13"/>
    <p:sldId id="272" r:id="rId14"/>
    <p:sldId id="279" r:id="rId15"/>
    <p:sldId id="280" r:id="rId16"/>
    <p:sldId id="281" r:id="rId17"/>
    <p:sldId id="282" r:id="rId18"/>
    <p:sldId id="283" r:id="rId19"/>
    <p:sldId id="284" r:id="rId20"/>
    <p:sldId id="285" r:id="rId21"/>
    <p:sldId id="286" r:id="rId22"/>
    <p:sldId id="273" r:id="rId23"/>
    <p:sldId id="274" r:id="rId24"/>
    <p:sldId id="275" r:id="rId25"/>
    <p:sldId id="276" r:id="rId26"/>
    <p:sldId id="277" r:id="rId27"/>
    <p:sldId id="287" r:id="rId28"/>
    <p:sldId id="278" r:id="rId2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DAB2F-03D7-05FD-D706-BF574129E398}" v="12" dt="2026-07-05T11:17:42.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 Chi Fai 2206 [Student]" userId="S::22063545d@connect.polyu.hk::f303488a-031d-4400-a55e-1ade40a5cef3" providerId="AD" clId="Web-{1A3DAB2F-03D7-05FD-D706-BF574129E398}"/>
    <pc:docChg chg="delSld modSld">
      <pc:chgData name="CHAN, Chi Fai 2206 [Student]" userId="S::22063545d@connect.polyu.hk::f303488a-031d-4400-a55e-1ade40a5cef3" providerId="AD" clId="Web-{1A3DAB2F-03D7-05FD-D706-BF574129E398}" dt="2026-07-05T11:17:42.110" v="11" actId="20577"/>
      <pc:docMkLst>
        <pc:docMk/>
      </pc:docMkLst>
      <pc:sldChg chg="delSp modSp delAnim">
        <pc:chgData name="CHAN, Chi Fai 2206 [Student]" userId="S::22063545d@connect.polyu.hk::f303488a-031d-4400-a55e-1ade40a5cef3" providerId="AD" clId="Web-{1A3DAB2F-03D7-05FD-D706-BF574129E398}" dt="2026-07-05T11:17:42.110" v="11" actId="20577"/>
        <pc:sldMkLst>
          <pc:docMk/>
          <pc:sldMk cId="325970266" sldId="287"/>
        </pc:sldMkLst>
        <pc:spChg chg="mod">
          <ac:chgData name="CHAN, Chi Fai 2206 [Student]" userId="S::22063545d@connect.polyu.hk::f303488a-031d-4400-a55e-1ade40a5cef3" providerId="AD" clId="Web-{1A3DAB2F-03D7-05FD-D706-BF574129E398}" dt="2026-07-05T11:17:42.110" v="11" actId="20577"/>
          <ac:spMkLst>
            <pc:docMk/>
            <pc:sldMk cId="325970266" sldId="287"/>
            <ac:spMk id="3" creationId="{0F8216CC-8D56-A31B-09A0-1E9189802CB9}"/>
          </ac:spMkLst>
        </pc:spChg>
        <pc:picChg chg="del">
          <ac:chgData name="CHAN, Chi Fai 2206 [Student]" userId="S::22063545d@connect.polyu.hk::f303488a-031d-4400-a55e-1ade40a5cef3" providerId="AD" clId="Web-{1A3DAB2F-03D7-05FD-D706-BF574129E398}" dt="2026-07-05T11:13:24.602" v="0"/>
          <ac:picMkLst>
            <pc:docMk/>
            <pc:sldMk cId="325970266" sldId="287"/>
            <ac:picMk id="4" creationId="{8290CC2C-6629-5329-E888-5D55022C7D7D}"/>
          </ac:picMkLst>
        </pc:picChg>
      </pc:sldChg>
      <pc:sldChg chg="del">
        <pc:chgData name="CHAN, Chi Fai 2206 [Student]" userId="S::22063545d@connect.polyu.hk::f303488a-031d-4400-a55e-1ade40a5cef3" providerId="AD" clId="Web-{1A3DAB2F-03D7-05FD-D706-BF574129E398}" dt="2026-07-05T11:14:25.167" v="2"/>
        <pc:sldMkLst>
          <pc:docMk/>
          <pc:sldMk cId="2377338133" sldId="288"/>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387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647F38-B617-4D2F-AE0A-013F0C4D2C57}" type="datetimeFigureOut">
              <a:rPr lang="en-US" dirty="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a:p>
        </p:txBody>
      </p:sp>
    </p:spTree>
    <p:extLst>
      <p:ext uri="{BB962C8B-B14F-4D97-AF65-F5344CB8AC3E}">
        <p14:creationId xmlns:p14="http://schemas.microsoft.com/office/powerpoint/2010/main" val="1821861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7132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BFA754-D5C3-4E66-96A6-867B257F58DC}" type="datetimeFigureOut">
              <a:rPr lang="en-US" dirty="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a:p>
        </p:txBody>
      </p:sp>
    </p:spTree>
    <p:extLst>
      <p:ext uri="{BB962C8B-B14F-4D97-AF65-F5344CB8AC3E}">
        <p14:creationId xmlns:p14="http://schemas.microsoft.com/office/powerpoint/2010/main" val="2758843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2791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3930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88911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0042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62895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29481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7506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51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995607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4376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9919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1958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4179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7/5/2026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270560896"/>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connectpolyu-my.sharepoint.com/:v:/g/personal/22063545d_connect_polyu_hk/IQBs5uQBZhBbSbDdOKS9j9tyAbBP0eojPievbBzjDr2_RSI?nav=eyJyZWZlcnJhbEluZm8iOnsicmVmZXJyYWxBcHAiOiJPbmVEcml2ZUZvckJ1c2luZXNzIiwicmVmZXJyYWxBcHBQbGF0Zm9ybSI6IldlYiIsInJlZmVycmFsTW9kZSI6InZpZXciLCJyZWZlcnJhbFZpZXciOiJNeUZpbGVzTGlua0NvcHkifX0&amp;e=LDbKxq"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D6DABB5-1FC3-4E21-AC84-4685B03C9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2616" y="1411015"/>
            <a:ext cx="7808159" cy="4103960"/>
          </a:xfrm>
          <a:prstGeom prst="rect">
            <a:avLst/>
          </a:prstGeom>
          <a:blipFill dpi="0" rotWithShape="1">
            <a:blip r:embed="rId3">
              <a:alphaModFix amt="86000"/>
              <a:duotone>
                <a:schemeClr val="bg2">
                  <a:shade val="45000"/>
                  <a:satMod val="135000"/>
                </a:schemeClr>
                <a:prstClr val="white"/>
              </a:duotone>
            </a:blip>
            <a:srcRect/>
            <a:tile tx="0" ty="0" sx="90000" sy="100000" flip="none" algn="ctr"/>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a:extLst>
              <a:ext uri="{FF2B5EF4-FFF2-40B4-BE49-F238E27FC236}">
                <a16:creationId xmlns:a16="http://schemas.microsoft.com/office/drawing/2014/main" id="{FC5790B5-250E-45E6-A05D-C3D1D459B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grpSp>
        <p:nvGrpSpPr>
          <p:cNvPr id="7" name="Group 11">
            <a:extLst>
              <a:ext uri="{FF2B5EF4-FFF2-40B4-BE49-F238E27FC236}">
                <a16:creationId xmlns:a16="http://schemas.microsoft.com/office/drawing/2014/main" id="{68158C4B-1BFE-4F6D-B2C1-0066FA1193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19" name="Rounded Rectangle 17">
              <a:extLst>
                <a:ext uri="{FF2B5EF4-FFF2-40B4-BE49-F238E27FC236}">
                  <a16:creationId xmlns:a16="http://schemas.microsoft.com/office/drawing/2014/main" id="{4A8E3562-03A2-4AF3-89BB-B227ED326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13">
              <a:extLst>
                <a:ext uri="{FF2B5EF4-FFF2-40B4-BE49-F238E27FC236}">
                  <a16:creationId xmlns:a16="http://schemas.microsoft.com/office/drawing/2014/main" id="{BD9DF111-5BF8-4312-BECB-94BBCF29ECC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26" name="Rounded Rectangle 20">
              <a:extLst>
                <a:ext uri="{FF2B5EF4-FFF2-40B4-BE49-F238E27FC236}">
                  <a16:creationId xmlns:a16="http://schemas.microsoft.com/office/drawing/2014/main" id="{9EEB3A31-82B4-41D6-BEAB-3CC49BBCBE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5">
              <a:extLst>
                <a:ext uri="{FF2B5EF4-FFF2-40B4-BE49-F238E27FC236}">
                  <a16:creationId xmlns:a16="http://schemas.microsoft.com/office/drawing/2014/main" id="{28C66B30-E9F1-40DD-A809-6A1282E237D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標題 1"/>
          <p:cNvSpPr>
            <a:spLocks noGrp="1"/>
          </p:cNvSpPr>
          <p:nvPr>
            <p:ph type="ctrTitle"/>
          </p:nvPr>
        </p:nvSpPr>
        <p:spPr>
          <a:xfrm>
            <a:off x="2692398" y="1871131"/>
            <a:ext cx="6815669" cy="1515533"/>
          </a:xfrm>
        </p:spPr>
        <p:txBody>
          <a:bodyPr>
            <a:normAutofit/>
          </a:bodyPr>
          <a:lstStyle/>
          <a:p>
            <a:pPr>
              <a:lnSpc>
                <a:spcPct val="90000"/>
              </a:lnSpc>
            </a:pPr>
            <a:r>
              <a:rPr lang="zh-TW" sz="4200">
                <a:ea typeface="+mj-lt"/>
                <a:cs typeface="+mj-lt"/>
              </a:rPr>
              <a:t>Interactive Storytelling for Elderly-Friendly RPG Games </a:t>
            </a:r>
            <a:endParaRPr lang="zh-TW" sz="4200"/>
          </a:p>
        </p:txBody>
      </p:sp>
      <p:sp>
        <p:nvSpPr>
          <p:cNvPr id="3" name="副標題 2"/>
          <p:cNvSpPr>
            <a:spLocks noGrp="1"/>
          </p:cNvSpPr>
          <p:nvPr>
            <p:ph type="subTitle" idx="1"/>
          </p:nvPr>
        </p:nvSpPr>
        <p:spPr>
          <a:xfrm>
            <a:off x="2692398" y="3657597"/>
            <a:ext cx="6815669" cy="1320802"/>
          </a:xfrm>
        </p:spPr>
        <p:txBody>
          <a:bodyPr>
            <a:normAutofit/>
          </a:bodyPr>
          <a:lstStyle/>
          <a:p>
            <a:r>
              <a:rPr lang="zh-TW" sz="3000">
                <a:ea typeface="+mn-lt"/>
                <a:cs typeface="+mn-lt"/>
              </a:rPr>
              <a:t>Chan Chi Fai </a:t>
            </a:r>
            <a:endParaRPr lang="zh-TW" sz="3000">
              <a:ea typeface="新細明體"/>
            </a:endParaRPr>
          </a:p>
          <a:p>
            <a:r>
              <a:rPr lang="zh-TW" sz="3000">
                <a:ea typeface="+mn-lt"/>
                <a:cs typeface="+mn-lt"/>
              </a:rPr>
              <a:t>22063545d </a:t>
            </a:r>
            <a:endParaRPr lang="zh-TW" sz="3000"/>
          </a:p>
        </p:txBody>
      </p:sp>
      <p:cxnSp>
        <p:nvCxnSpPr>
          <p:cNvPr id="28" name="Straight Connector 17">
            <a:extLst>
              <a:ext uri="{FF2B5EF4-FFF2-40B4-BE49-F238E27FC236}">
                <a16:creationId xmlns:a16="http://schemas.microsoft.com/office/drawing/2014/main" id="{14319AF2-886A-4C5D-B34C-17FCB0267E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129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C7E4CE-9552-AD18-44B3-F8B145707E73}"/>
              </a:ext>
            </a:extLst>
          </p:cNvPr>
          <p:cNvSpPr>
            <a:spLocks noGrp="1"/>
          </p:cNvSpPr>
          <p:nvPr>
            <p:ph type="title"/>
          </p:nvPr>
        </p:nvSpPr>
        <p:spPr/>
        <p:txBody>
          <a:bodyPr>
            <a:normAutofit/>
          </a:bodyPr>
          <a:lstStyle/>
          <a:p>
            <a:r>
              <a:rPr lang="en-US" altLang="zh-TW" sz="4000" dirty="0">
                <a:solidFill>
                  <a:srgbClr val="000000"/>
                </a:solidFill>
                <a:highlight>
                  <a:srgbClr val="FFFFFF"/>
                </a:highlight>
                <a:latin typeface="Times New Roman"/>
                <a:ea typeface="+mj-lt"/>
                <a:cs typeface="Times New Roman"/>
              </a:rPr>
              <a:t>Background and Problem Statement</a:t>
            </a:r>
            <a:endParaRPr lang="zh-TW" sz="4000" dirty="0">
              <a:solidFill>
                <a:srgbClr val="000000"/>
              </a:solidFill>
              <a:highlight>
                <a:srgbClr val="FFFFFF"/>
              </a:highlight>
              <a:latin typeface="Times New Roman"/>
              <a:cs typeface="Times New Roman"/>
            </a:endParaRPr>
          </a:p>
        </p:txBody>
      </p:sp>
      <p:sp>
        <p:nvSpPr>
          <p:cNvPr id="3" name="內容版面配置區 2">
            <a:extLst>
              <a:ext uri="{FF2B5EF4-FFF2-40B4-BE49-F238E27FC236}">
                <a16:creationId xmlns:a16="http://schemas.microsoft.com/office/drawing/2014/main" id="{F9C8CD1D-298E-1211-FDBE-F2D8F6AD6459}"/>
              </a:ext>
            </a:extLst>
          </p:cNvPr>
          <p:cNvSpPr>
            <a:spLocks noGrp="1"/>
          </p:cNvSpPr>
          <p:nvPr>
            <p:ph idx="1"/>
          </p:nvPr>
        </p:nvSpPr>
        <p:spPr/>
        <p:txBody>
          <a:bodyPr/>
          <a:lstStyle/>
          <a:p>
            <a:r>
              <a:rPr lang="zh-TW">
                <a:ea typeface="+mn-lt"/>
                <a:cs typeface="+mn-lt"/>
              </a:rPr>
              <a:t>Nowadays, a lot of games are developed. Different players have different preservatives and needs. But there was no game mainly for the elderly people.</a:t>
            </a:r>
          </a:p>
          <a:p>
            <a:pPr>
              <a:buSzPct val="114999"/>
            </a:pPr>
            <a:r>
              <a:rPr lang="en-US" altLang="zh-TW" dirty="0">
                <a:ea typeface="+mn-lt"/>
                <a:cs typeface="+mn-lt"/>
              </a:rPr>
              <a:t>This</a:t>
            </a:r>
            <a:r>
              <a:rPr lang="zh-TW" altLang="en-US" dirty="0">
                <a:ea typeface="+mn-lt"/>
                <a:cs typeface="+mn-lt"/>
              </a:rPr>
              <a:t> </a:t>
            </a:r>
            <a:r>
              <a:rPr lang="en-US" altLang="zh-TW" dirty="0">
                <a:ea typeface="+mn-lt"/>
                <a:cs typeface="+mn-lt"/>
              </a:rPr>
              <a:t>project</a:t>
            </a:r>
            <a:r>
              <a:rPr lang="zh-TW" altLang="en-US" dirty="0">
                <a:ea typeface="+mn-lt"/>
                <a:cs typeface="+mn-lt"/>
              </a:rPr>
              <a:t> </a:t>
            </a:r>
            <a:r>
              <a:rPr lang="en-US" altLang="zh-TW" dirty="0">
                <a:ea typeface="+mn-lt"/>
                <a:cs typeface="+mn-lt"/>
              </a:rPr>
              <a:t>is</a:t>
            </a:r>
            <a:r>
              <a:rPr lang="zh-TW" altLang="en-US" dirty="0">
                <a:ea typeface="+mn-lt"/>
                <a:cs typeface="+mn-lt"/>
              </a:rPr>
              <a:t> </a:t>
            </a:r>
            <a:r>
              <a:rPr lang="en-US" altLang="zh-TW" dirty="0">
                <a:ea typeface="+mn-lt"/>
                <a:cs typeface="+mn-lt"/>
              </a:rPr>
              <a:t>going</a:t>
            </a:r>
            <a:r>
              <a:rPr lang="zh-TW" altLang="en-US" dirty="0">
                <a:ea typeface="+mn-lt"/>
                <a:cs typeface="+mn-lt"/>
              </a:rPr>
              <a:t> </a:t>
            </a:r>
            <a:r>
              <a:rPr lang="en-US" altLang="zh-TW" dirty="0">
                <a:ea typeface="+mn-lt"/>
                <a:cs typeface="+mn-lt"/>
              </a:rPr>
              <a:t>to</a:t>
            </a:r>
            <a:r>
              <a:rPr lang="zh-TW" altLang="en-US" dirty="0">
                <a:ea typeface="+mn-lt"/>
                <a:cs typeface="+mn-lt"/>
              </a:rPr>
              <a:t> </a:t>
            </a:r>
            <a:r>
              <a:rPr lang="en-US" altLang="zh-TW" dirty="0">
                <a:ea typeface="+mn-lt"/>
                <a:cs typeface="+mn-lt"/>
              </a:rPr>
              <a:t>design</a:t>
            </a:r>
            <a:r>
              <a:rPr lang="zh-TW" altLang="en-US" dirty="0">
                <a:ea typeface="+mn-lt"/>
                <a:cs typeface="+mn-lt"/>
              </a:rPr>
              <a:t> </a:t>
            </a:r>
            <a:r>
              <a:rPr lang="en-US" altLang="zh-TW" dirty="0">
                <a:ea typeface="+mn-lt"/>
                <a:cs typeface="+mn-lt"/>
              </a:rPr>
              <a:t>an</a:t>
            </a:r>
            <a:r>
              <a:rPr lang="zh-TW" altLang="en-US" dirty="0">
                <a:ea typeface="+mn-lt"/>
                <a:cs typeface="+mn-lt"/>
              </a:rPr>
              <a:t> </a:t>
            </a:r>
            <a:r>
              <a:rPr lang="en-US" altLang="zh-TW" dirty="0">
                <a:ea typeface="+mn-lt"/>
                <a:cs typeface="+mn-lt"/>
              </a:rPr>
              <a:t>Elderly-Friendly</a:t>
            </a:r>
            <a:r>
              <a:rPr lang="zh-TW" altLang="en-US" dirty="0">
                <a:ea typeface="+mn-lt"/>
                <a:cs typeface="+mn-lt"/>
              </a:rPr>
              <a:t> </a:t>
            </a:r>
            <a:r>
              <a:rPr lang="en-US" altLang="zh-TW" dirty="0">
                <a:ea typeface="+mn-lt"/>
                <a:cs typeface="+mn-lt"/>
              </a:rPr>
              <a:t>Word</a:t>
            </a:r>
            <a:r>
              <a:rPr lang="zh-TW" altLang="en-US" dirty="0">
                <a:ea typeface="+mn-lt"/>
                <a:cs typeface="+mn-lt"/>
              </a:rPr>
              <a:t> </a:t>
            </a:r>
            <a:r>
              <a:rPr lang="en-US" altLang="zh-TW" dirty="0">
                <a:ea typeface="+mn-lt"/>
                <a:cs typeface="+mn-lt"/>
              </a:rPr>
              <a:t>Adventure</a:t>
            </a:r>
            <a:r>
              <a:rPr lang="zh-TW" altLang="en-US" dirty="0">
                <a:ea typeface="+mn-lt"/>
                <a:cs typeface="+mn-lt"/>
              </a:rPr>
              <a:t> </a:t>
            </a:r>
            <a:r>
              <a:rPr lang="en-US" altLang="zh-TW" dirty="0">
                <a:ea typeface="+mn-lt"/>
                <a:cs typeface="+mn-lt"/>
              </a:rPr>
              <a:t>Game.</a:t>
            </a:r>
            <a:r>
              <a:rPr lang="zh-TW" altLang="en-US" dirty="0">
                <a:ea typeface="+mn-lt"/>
                <a:cs typeface="+mn-lt"/>
              </a:rPr>
              <a:t> </a:t>
            </a:r>
            <a:endParaRPr lang="zh-TW" altLang="en-US" dirty="0">
              <a:ea typeface="新細明體" panose="02020500000000000000" pitchFamily="18" charset="-120"/>
              <a:cs typeface="+mn-lt"/>
            </a:endParaRPr>
          </a:p>
          <a:p>
            <a:pPr>
              <a:buSzPct val="114999"/>
            </a:pPr>
            <a:r>
              <a:rPr lang="en-US" altLang="zh-TW" dirty="0">
                <a:ea typeface="+mn-lt"/>
                <a:cs typeface="+mn-lt"/>
              </a:rPr>
              <a:t>This</a:t>
            </a:r>
            <a:r>
              <a:rPr lang="zh-TW" altLang="en-US" dirty="0">
                <a:ea typeface="+mn-lt"/>
                <a:cs typeface="+mn-lt"/>
              </a:rPr>
              <a:t> </a:t>
            </a:r>
            <a:r>
              <a:rPr lang="en-US" altLang="zh-TW" dirty="0">
                <a:ea typeface="+mn-lt"/>
                <a:cs typeface="+mn-lt"/>
              </a:rPr>
              <a:t>game</a:t>
            </a:r>
            <a:r>
              <a:rPr lang="zh-TW" altLang="en-US" dirty="0">
                <a:ea typeface="+mn-lt"/>
                <a:cs typeface="+mn-lt"/>
              </a:rPr>
              <a:t> </a:t>
            </a:r>
            <a:r>
              <a:rPr lang="en-US" altLang="zh-TW" dirty="0">
                <a:ea typeface="+mn-lt"/>
                <a:cs typeface="+mn-lt"/>
              </a:rPr>
              <a:t>will</a:t>
            </a:r>
            <a:r>
              <a:rPr lang="zh-TW" altLang="en-US" dirty="0">
                <a:ea typeface="+mn-lt"/>
                <a:cs typeface="+mn-lt"/>
              </a:rPr>
              <a:t> </a:t>
            </a:r>
            <a:r>
              <a:rPr lang="en-US" altLang="zh-TW" dirty="0">
                <a:ea typeface="+mn-lt"/>
                <a:cs typeface="+mn-lt"/>
              </a:rPr>
              <a:t>have</a:t>
            </a:r>
            <a:r>
              <a:rPr lang="zh-TW" altLang="en-US" dirty="0">
                <a:ea typeface="+mn-lt"/>
                <a:cs typeface="+mn-lt"/>
              </a:rPr>
              <a:t> </a:t>
            </a:r>
            <a:r>
              <a:rPr lang="en-US" altLang="zh-TW" dirty="0">
                <a:ea typeface="+mn-lt"/>
                <a:cs typeface="+mn-lt"/>
              </a:rPr>
              <a:t>large</a:t>
            </a:r>
            <a:r>
              <a:rPr lang="zh-TW" altLang="en-US" dirty="0">
                <a:ea typeface="+mn-lt"/>
                <a:cs typeface="+mn-lt"/>
              </a:rPr>
              <a:t> </a:t>
            </a:r>
            <a:r>
              <a:rPr lang="en-US" altLang="zh-TW" dirty="0">
                <a:ea typeface="+mn-lt"/>
                <a:cs typeface="+mn-lt"/>
              </a:rPr>
              <a:t>fonts,</a:t>
            </a:r>
            <a:r>
              <a:rPr lang="zh-TW" altLang="en-US" dirty="0">
                <a:ea typeface="+mn-lt"/>
                <a:cs typeface="+mn-lt"/>
              </a:rPr>
              <a:t> </a:t>
            </a:r>
            <a:r>
              <a:rPr lang="en-US" altLang="zh-TW">
                <a:ea typeface="+mn-lt"/>
                <a:cs typeface="+mn-lt"/>
              </a:rPr>
              <a:t>simple</a:t>
            </a:r>
            <a:r>
              <a:rPr lang="zh-TW" altLang="en-US" dirty="0">
                <a:ea typeface="+mn-lt"/>
                <a:cs typeface="+mn-lt"/>
              </a:rPr>
              <a:t> </a:t>
            </a:r>
            <a:r>
              <a:rPr lang="en-US" altLang="zh-TW" dirty="0">
                <a:ea typeface="+mn-lt"/>
                <a:cs typeface="+mn-lt"/>
              </a:rPr>
              <a:t>vocabulary,</a:t>
            </a:r>
            <a:r>
              <a:rPr lang="zh-TW" altLang="en-US" dirty="0">
                <a:ea typeface="+mn-lt"/>
                <a:cs typeface="+mn-lt"/>
              </a:rPr>
              <a:t> </a:t>
            </a:r>
            <a:r>
              <a:rPr lang="en-US" altLang="zh-TW" dirty="0">
                <a:ea typeface="+mn-lt"/>
                <a:cs typeface="+mn-lt"/>
              </a:rPr>
              <a:t>and</a:t>
            </a:r>
            <a:r>
              <a:rPr lang="zh-TW" altLang="en-US" dirty="0">
                <a:ea typeface="+mn-lt"/>
                <a:cs typeface="+mn-lt"/>
              </a:rPr>
              <a:t> </a:t>
            </a:r>
            <a:r>
              <a:rPr lang="en-US" altLang="zh-TW" dirty="0">
                <a:ea typeface="+mn-lt"/>
                <a:cs typeface="+mn-lt"/>
              </a:rPr>
              <a:t>calm</a:t>
            </a:r>
            <a:r>
              <a:rPr lang="zh-TW" altLang="en-US" dirty="0">
                <a:ea typeface="+mn-lt"/>
                <a:cs typeface="+mn-lt"/>
              </a:rPr>
              <a:t> </a:t>
            </a:r>
            <a:r>
              <a:rPr lang="en-US" altLang="zh-TW" dirty="0">
                <a:ea typeface="+mn-lt"/>
                <a:cs typeface="+mn-lt"/>
              </a:rPr>
              <a:t>pacing</a:t>
            </a:r>
            <a:r>
              <a:rPr lang="zh-TW" altLang="en-US" dirty="0">
                <a:ea typeface="+mn-lt"/>
                <a:cs typeface="+mn-lt"/>
              </a:rPr>
              <a:t> </a:t>
            </a:r>
            <a:r>
              <a:rPr lang="en-US" altLang="zh-TW" dirty="0">
                <a:ea typeface="+mn-lt"/>
                <a:cs typeface="+mn-lt"/>
              </a:rPr>
              <a:t>elements.</a:t>
            </a:r>
            <a:endParaRPr lang="zh-TW" dirty="0">
              <a:ea typeface="新細明體"/>
            </a:endParaRPr>
          </a:p>
          <a:p>
            <a:pPr>
              <a:buSzPct val="114999"/>
            </a:pPr>
            <a:r>
              <a:rPr lang="en-US" dirty="0">
                <a:ea typeface="+mn-lt"/>
                <a:cs typeface="+mn-lt"/>
              </a:rPr>
              <a:t>This project focuses on the text layer and aims to design Interactive Storytelling for Elderly-Friendly RPG Games</a:t>
            </a:r>
            <a:endParaRPr lang="en-US" altLang="zh-TW" dirty="0">
              <a:ea typeface="新細明體"/>
            </a:endParaRPr>
          </a:p>
          <a:p>
            <a:pPr marL="0" indent="0">
              <a:buNone/>
            </a:pPr>
            <a:endParaRPr lang="zh-TW" altLang="en-US" dirty="0">
              <a:ea typeface="新細明體"/>
            </a:endParaRPr>
          </a:p>
        </p:txBody>
      </p:sp>
    </p:spTree>
    <p:extLst>
      <p:ext uri="{BB962C8B-B14F-4D97-AF65-F5344CB8AC3E}">
        <p14:creationId xmlns:p14="http://schemas.microsoft.com/office/powerpoint/2010/main" val="3206853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4CA8E4-4BBE-112A-EB03-02BE84EE548A}"/>
              </a:ext>
            </a:extLst>
          </p:cNvPr>
          <p:cNvSpPr>
            <a:spLocks noGrp="1"/>
          </p:cNvSpPr>
          <p:nvPr>
            <p:ph type="title"/>
          </p:nvPr>
        </p:nvSpPr>
        <p:spPr/>
        <p:txBody>
          <a:bodyPr>
            <a:normAutofit/>
          </a:bodyPr>
          <a:lstStyle/>
          <a:p>
            <a:r>
              <a:rPr lang="en-US" sz="4000" dirty="0">
                <a:solidFill>
                  <a:srgbClr val="000000"/>
                </a:solidFill>
                <a:highlight>
                  <a:srgbClr val="FFFFFF"/>
                </a:highlight>
                <a:latin typeface="Times New Roman"/>
                <a:ea typeface="+mj-lt"/>
                <a:cs typeface="Times New Roman"/>
              </a:rPr>
              <a:t>Objectives and Outcome</a:t>
            </a:r>
            <a:endParaRPr lang="en-US" altLang="zh-TW" sz="4000" dirty="0">
              <a:solidFill>
                <a:srgbClr val="000000"/>
              </a:solidFill>
              <a:highlight>
                <a:srgbClr val="FFFFFF"/>
              </a:highlight>
              <a:latin typeface="Times New Roman"/>
              <a:cs typeface="Times New Roman"/>
            </a:endParaRPr>
          </a:p>
        </p:txBody>
      </p:sp>
      <p:sp>
        <p:nvSpPr>
          <p:cNvPr id="3" name="內容版面配置區 2">
            <a:extLst>
              <a:ext uri="{FF2B5EF4-FFF2-40B4-BE49-F238E27FC236}">
                <a16:creationId xmlns:a16="http://schemas.microsoft.com/office/drawing/2014/main" id="{167933F1-093C-065E-FE77-AAC4BED2CC54}"/>
              </a:ext>
            </a:extLst>
          </p:cNvPr>
          <p:cNvSpPr>
            <a:spLocks noGrp="1"/>
          </p:cNvSpPr>
          <p:nvPr>
            <p:ph idx="1"/>
          </p:nvPr>
        </p:nvSpPr>
        <p:spPr/>
        <p:txBody>
          <a:bodyPr/>
          <a:lstStyle/>
          <a:p>
            <a:r>
              <a:rPr lang="zh-TW">
                <a:ea typeface="+mn-lt"/>
                <a:cs typeface="+mn-lt"/>
              </a:rPr>
              <a:t>Write short, clear scenes and meaningful choices for an elderly-friendly, text-first game.</a:t>
            </a:r>
            <a:endParaRPr lang="zh-TW" altLang="en-US"/>
          </a:p>
          <a:p>
            <a:pPr>
              <a:buSzPct val="114999"/>
            </a:pPr>
            <a:r>
              <a:rPr lang="zh-TW">
                <a:ea typeface="+mn-lt"/>
                <a:cs typeface="+mn-lt"/>
              </a:rPr>
              <a:t>Scenes: 60–150 words, everyday language, short sentences.</a:t>
            </a:r>
            <a:endParaRPr lang="zh-TW"/>
          </a:p>
          <a:p>
            <a:pPr>
              <a:buSzPct val="114999"/>
            </a:pPr>
            <a:r>
              <a:rPr lang="zh-TW">
                <a:ea typeface="+mn-lt"/>
                <a:cs typeface="+mn-lt"/>
              </a:rPr>
              <a:t>Choices: 2–3 clear options; each changes what happens next.</a:t>
            </a:r>
            <a:endParaRPr lang="zh-TW"/>
          </a:p>
          <a:p>
            <a:pPr>
              <a:buSzPct val="114999"/>
            </a:pPr>
            <a:r>
              <a:rPr lang="zh-TW">
                <a:ea typeface="+mn-lt"/>
                <a:cs typeface="+mn-lt"/>
              </a:rPr>
              <a:t>Endings: a few simple, positive-leaning outcomes.</a:t>
            </a:r>
          </a:p>
          <a:p>
            <a:pPr>
              <a:buSzPct val="114999"/>
            </a:pPr>
            <a:r>
              <a:rPr lang="en-US" altLang="zh-TW" dirty="0">
                <a:ea typeface="+mn-lt"/>
                <a:cs typeface="+mn-lt"/>
              </a:rPr>
              <a:t>G</a:t>
            </a:r>
            <a:r>
              <a:rPr lang="zh-TW">
                <a:ea typeface="+mn-lt"/>
                <a:cs typeface="+mn-lt"/>
              </a:rPr>
              <a:t>ame language</a:t>
            </a:r>
            <a:r>
              <a:rPr lang="en-US" altLang="zh-TW" dirty="0">
                <a:ea typeface="+mn-lt"/>
                <a:cs typeface="+mn-lt"/>
              </a:rPr>
              <a:t>:</a:t>
            </a:r>
            <a:r>
              <a:rPr lang="zh-TW" dirty="0">
                <a:ea typeface="+mn-lt"/>
                <a:cs typeface="+mn-lt"/>
              </a:rPr>
              <a:t> </a:t>
            </a:r>
            <a:r>
              <a:rPr lang="en-US" altLang="zh-TW">
                <a:ea typeface="+mn-lt"/>
                <a:cs typeface="+mn-lt"/>
              </a:rPr>
              <a:t>Chinese, </a:t>
            </a:r>
            <a:r>
              <a:rPr lang="en-US">
                <a:ea typeface="+mn-lt"/>
                <a:cs typeface="+mn-lt"/>
              </a:rPr>
              <a:t>Cantonese for voice function</a:t>
            </a:r>
            <a:endParaRPr lang="zh-TW" altLang="en-US" dirty="0"/>
          </a:p>
        </p:txBody>
      </p:sp>
    </p:spTree>
    <p:extLst>
      <p:ext uri="{BB962C8B-B14F-4D97-AF65-F5344CB8AC3E}">
        <p14:creationId xmlns:p14="http://schemas.microsoft.com/office/powerpoint/2010/main" val="1727919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E38AA8-27D9-8FD6-5826-F2F6DFB5347E}"/>
              </a:ext>
            </a:extLst>
          </p:cNvPr>
          <p:cNvSpPr>
            <a:spLocks noGrp="1"/>
          </p:cNvSpPr>
          <p:nvPr>
            <p:ph type="title"/>
          </p:nvPr>
        </p:nvSpPr>
        <p:spPr/>
        <p:txBody>
          <a:bodyPr>
            <a:normAutofit/>
          </a:bodyPr>
          <a:lstStyle/>
          <a:p>
            <a:r>
              <a:rPr lang="en-US" altLang="zh-TW" sz="4000" dirty="0">
                <a:solidFill>
                  <a:srgbClr val="000000"/>
                </a:solidFill>
                <a:highlight>
                  <a:srgbClr val="FFFFFF"/>
                </a:highlight>
                <a:latin typeface="Times New Roman"/>
                <a:ea typeface="+mj-lt"/>
                <a:cs typeface="Times New Roman"/>
              </a:rPr>
              <a:t>Project Methodology</a:t>
            </a:r>
            <a:endParaRPr lang="zh-TW" sz="4000" dirty="0">
              <a:solidFill>
                <a:srgbClr val="000000"/>
              </a:solidFill>
              <a:highlight>
                <a:srgbClr val="FFFFFF"/>
              </a:highlight>
              <a:latin typeface="Times New Roman"/>
              <a:cs typeface="Times New Roman"/>
            </a:endParaRPr>
          </a:p>
        </p:txBody>
      </p:sp>
      <p:sp>
        <p:nvSpPr>
          <p:cNvPr id="3" name="內容版面配置區 2">
            <a:extLst>
              <a:ext uri="{FF2B5EF4-FFF2-40B4-BE49-F238E27FC236}">
                <a16:creationId xmlns:a16="http://schemas.microsoft.com/office/drawing/2014/main" id="{6CDF31C6-E8DE-3842-7CC4-0D5D8E824610}"/>
              </a:ext>
            </a:extLst>
          </p:cNvPr>
          <p:cNvSpPr>
            <a:spLocks noGrp="1"/>
          </p:cNvSpPr>
          <p:nvPr>
            <p:ph idx="1"/>
          </p:nvPr>
        </p:nvSpPr>
        <p:spPr/>
        <p:txBody>
          <a:bodyPr/>
          <a:lstStyle/>
          <a:p>
            <a:r>
              <a:rPr lang="zh-TW" altLang="en-US">
                <a:ea typeface="新細明體"/>
              </a:rPr>
              <a:t>Program lanuage: </a:t>
            </a:r>
            <a:r>
              <a:rPr lang="zh-TW">
                <a:ea typeface="+mn-lt"/>
                <a:cs typeface="+mn-lt"/>
              </a:rPr>
              <a:t>Python</a:t>
            </a:r>
            <a:r>
              <a:rPr lang="en-US" altLang="zh-TW">
                <a:ea typeface="+mn-lt"/>
                <a:cs typeface="+mn-lt"/>
              </a:rPr>
              <a:t>3.12</a:t>
            </a:r>
            <a:endParaRPr lang="zh-TW" altLang="en-US">
              <a:ea typeface="+mn-lt"/>
              <a:cs typeface="+mn-lt"/>
            </a:endParaRPr>
          </a:p>
          <a:p>
            <a:pPr>
              <a:buSzPct val="114999"/>
            </a:pPr>
            <a:r>
              <a:rPr lang="en-US" altLang="zh-TW" dirty="0">
                <a:ea typeface="+mn-lt"/>
                <a:cs typeface="+mn-lt"/>
              </a:rPr>
              <a:t>LLM: </a:t>
            </a:r>
            <a:r>
              <a:rPr lang="en-US" dirty="0" err="1">
                <a:ea typeface="+mn-lt"/>
                <a:cs typeface="+mn-lt"/>
              </a:rPr>
              <a:t>gemini</a:t>
            </a:r>
            <a:r>
              <a:rPr lang="en-US" dirty="0">
                <a:ea typeface="+mn-lt"/>
                <a:cs typeface="+mn-lt"/>
              </a:rPr>
              <a:t>-flash-latest</a:t>
            </a:r>
          </a:p>
          <a:p>
            <a:pPr>
              <a:buSzPct val="114999"/>
            </a:pPr>
            <a:r>
              <a:rPr lang="en-US" dirty="0">
                <a:ea typeface="+mn-lt"/>
                <a:cs typeface="+mn-lt"/>
              </a:rPr>
              <a:t>LLM advantage: Free quote, easy to set up and easy to apply the </a:t>
            </a:r>
            <a:r>
              <a:rPr lang="en-US" dirty="0" err="1">
                <a:ea typeface="+mn-lt"/>
                <a:cs typeface="+mn-lt"/>
              </a:rPr>
              <a:t>api</a:t>
            </a:r>
            <a:r>
              <a:rPr lang="en-US" dirty="0">
                <a:ea typeface="+mn-lt"/>
                <a:cs typeface="+mn-lt"/>
              </a:rPr>
              <a:t> key</a:t>
            </a:r>
          </a:p>
          <a:p>
            <a:pPr>
              <a:buSzPct val="114999"/>
            </a:pPr>
            <a:endParaRPr lang="en-US" dirty="0">
              <a:ea typeface="+mn-lt"/>
              <a:cs typeface="+mn-lt"/>
            </a:endParaRPr>
          </a:p>
        </p:txBody>
      </p:sp>
      <p:pic>
        <p:nvPicPr>
          <p:cNvPr id="4" name="圖片 3" descr="一張含有 文字, 字型, 螢幕擷取畫面, 數字 的圖片&#10;&#10;AI 產生的內容可能不正確。">
            <a:extLst>
              <a:ext uri="{FF2B5EF4-FFF2-40B4-BE49-F238E27FC236}">
                <a16:creationId xmlns:a16="http://schemas.microsoft.com/office/drawing/2014/main" id="{4C4EA08C-BD1A-E99B-2343-BBA0993C326E}"/>
              </a:ext>
            </a:extLst>
          </p:cNvPr>
          <p:cNvPicPr>
            <a:picLocks noChangeAspect="1"/>
          </p:cNvPicPr>
          <p:nvPr/>
        </p:nvPicPr>
        <p:blipFill>
          <a:blip r:embed="rId2"/>
          <a:stretch>
            <a:fillRect/>
          </a:stretch>
        </p:blipFill>
        <p:spPr>
          <a:xfrm>
            <a:off x="1567841" y="4214290"/>
            <a:ext cx="3962400" cy="1247775"/>
          </a:xfrm>
          <a:prstGeom prst="rect">
            <a:avLst/>
          </a:prstGeom>
        </p:spPr>
      </p:pic>
    </p:spTree>
    <p:extLst>
      <p:ext uri="{BB962C8B-B14F-4D97-AF65-F5344CB8AC3E}">
        <p14:creationId xmlns:p14="http://schemas.microsoft.com/office/powerpoint/2010/main" val="454239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0CC2FA-C347-2392-207D-34E683C98B39}"/>
              </a:ext>
            </a:extLst>
          </p:cNvPr>
          <p:cNvSpPr>
            <a:spLocks noGrp="1"/>
          </p:cNvSpPr>
          <p:nvPr>
            <p:ph type="title"/>
          </p:nvPr>
        </p:nvSpPr>
        <p:spPr/>
        <p:txBody>
          <a:bodyPr>
            <a:normAutofit/>
          </a:bodyPr>
          <a:lstStyle/>
          <a:p>
            <a:r>
              <a:rPr lang="en-US" altLang="zh-TW" sz="4000" dirty="0">
                <a:solidFill>
                  <a:srgbClr val="000000"/>
                </a:solidFill>
                <a:highlight>
                  <a:srgbClr val="FFFFFF"/>
                </a:highlight>
                <a:latin typeface="Times New Roman"/>
                <a:ea typeface="+mj-lt"/>
                <a:cs typeface="Times New Roman"/>
              </a:rPr>
              <a:t>Game scenes</a:t>
            </a:r>
            <a:endParaRPr lang="zh-TW" sz="4000" dirty="0">
              <a:solidFill>
                <a:srgbClr val="000000"/>
              </a:solidFill>
              <a:highlight>
                <a:srgbClr val="FFFFFF"/>
              </a:highlight>
              <a:latin typeface="Times New Roman"/>
              <a:cs typeface="Times New Roman"/>
            </a:endParaRPr>
          </a:p>
        </p:txBody>
      </p:sp>
      <p:sp>
        <p:nvSpPr>
          <p:cNvPr id="3" name="內容版面配置區 2">
            <a:extLst>
              <a:ext uri="{FF2B5EF4-FFF2-40B4-BE49-F238E27FC236}">
                <a16:creationId xmlns:a16="http://schemas.microsoft.com/office/drawing/2014/main" id="{F4035490-770E-1331-BFA8-E2321FAB75BF}"/>
              </a:ext>
            </a:extLst>
          </p:cNvPr>
          <p:cNvSpPr>
            <a:spLocks noGrp="1"/>
          </p:cNvSpPr>
          <p:nvPr>
            <p:ph idx="1"/>
          </p:nvPr>
        </p:nvSpPr>
        <p:spPr/>
        <p:txBody>
          <a:bodyPr/>
          <a:lstStyle/>
          <a:p>
            <a:r>
              <a:rPr lang="en-US" altLang="zh-TW" dirty="0">
                <a:ea typeface="+mn-lt"/>
                <a:cs typeface="+mn-lt"/>
              </a:rPr>
              <a:t>S</a:t>
            </a:r>
            <a:r>
              <a:rPr lang="zh-TW">
                <a:ea typeface="+mn-lt"/>
                <a:cs typeface="+mn-lt"/>
              </a:rPr>
              <a:t>tatic </a:t>
            </a:r>
            <a:r>
              <a:rPr lang="en-US" altLang="zh-TW" dirty="0">
                <a:ea typeface="+mn-lt"/>
                <a:cs typeface="+mn-lt"/>
              </a:rPr>
              <a:t>scenes: T</a:t>
            </a:r>
            <a:r>
              <a:rPr lang="en-US" dirty="0">
                <a:ea typeface="+mn-lt"/>
                <a:cs typeface="+mn-lt"/>
              </a:rPr>
              <a:t>he player saves data in the previous game</a:t>
            </a:r>
            <a:endParaRPr lang="en-US" altLang="zh-TW" dirty="0">
              <a:ea typeface="+mn-lt"/>
              <a:cs typeface="+mn-lt"/>
            </a:endParaRPr>
          </a:p>
          <a:p>
            <a:pPr>
              <a:buSzPct val="114999"/>
            </a:pPr>
            <a:r>
              <a:rPr lang="en-US" altLang="zh-TW" dirty="0">
                <a:ea typeface="新細明體"/>
              </a:rPr>
              <a:t>Dynamic</a:t>
            </a:r>
            <a:r>
              <a:rPr lang="zh-TW" altLang="en-US" dirty="0">
                <a:ea typeface="新細明體"/>
              </a:rPr>
              <a:t> </a:t>
            </a:r>
            <a:r>
              <a:rPr lang="en-US" altLang="zh-TW" dirty="0">
                <a:ea typeface="新細明體"/>
              </a:rPr>
              <a:t>scenes: G</a:t>
            </a:r>
            <a:r>
              <a:rPr lang="en-US" dirty="0">
                <a:ea typeface="+mn-lt"/>
                <a:cs typeface="+mn-lt"/>
              </a:rPr>
              <a:t>enerated by an LLM based on player choices</a:t>
            </a:r>
          </a:p>
          <a:p>
            <a:pPr>
              <a:buSzPct val="114999"/>
            </a:pPr>
            <a:r>
              <a:rPr lang="en-US" dirty="0">
                <a:ea typeface="+mn-lt"/>
                <a:cs typeface="+mn-lt"/>
              </a:rPr>
              <a:t>Scenes structure: JSON file, highly readable and flexible.</a:t>
            </a:r>
          </a:p>
          <a:p>
            <a:pPr>
              <a:buSzPct val="114999"/>
            </a:pPr>
            <a:endParaRPr lang="en-US" dirty="0">
              <a:ea typeface="+mn-lt"/>
              <a:cs typeface="+mn-lt"/>
            </a:endParaRPr>
          </a:p>
          <a:p>
            <a:pPr>
              <a:buSzPct val="114999"/>
            </a:pPr>
            <a:endParaRPr lang="en-US" dirty="0">
              <a:ea typeface="+mn-lt"/>
              <a:cs typeface="+mn-lt"/>
            </a:endParaRPr>
          </a:p>
        </p:txBody>
      </p:sp>
      <p:pic>
        <p:nvPicPr>
          <p:cNvPr id="5" name="圖片 4" descr="一張含有 文字, 螢幕擷取畫面, 字型 的圖片&#10;&#10;AI 產生的內容可能不正確。">
            <a:extLst>
              <a:ext uri="{FF2B5EF4-FFF2-40B4-BE49-F238E27FC236}">
                <a16:creationId xmlns:a16="http://schemas.microsoft.com/office/drawing/2014/main" id="{BB3889D7-F791-751E-1818-664AAC26C934}"/>
              </a:ext>
            </a:extLst>
          </p:cNvPr>
          <p:cNvPicPr>
            <a:picLocks noChangeAspect="1"/>
          </p:cNvPicPr>
          <p:nvPr/>
        </p:nvPicPr>
        <p:blipFill>
          <a:blip r:embed="rId2"/>
          <a:stretch>
            <a:fillRect/>
          </a:stretch>
        </p:blipFill>
        <p:spPr>
          <a:xfrm>
            <a:off x="1099711" y="4001922"/>
            <a:ext cx="6501026" cy="2357083"/>
          </a:xfrm>
          <a:prstGeom prst="rect">
            <a:avLst/>
          </a:prstGeom>
        </p:spPr>
      </p:pic>
    </p:spTree>
    <p:extLst>
      <p:ext uri="{BB962C8B-B14F-4D97-AF65-F5344CB8AC3E}">
        <p14:creationId xmlns:p14="http://schemas.microsoft.com/office/powerpoint/2010/main" val="2187791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5E496F-84E0-67BF-A57B-82C81D07F133}"/>
              </a:ext>
            </a:extLst>
          </p:cNvPr>
          <p:cNvSpPr>
            <a:spLocks noGrp="1"/>
          </p:cNvSpPr>
          <p:nvPr>
            <p:ph type="title"/>
          </p:nvPr>
        </p:nvSpPr>
        <p:spPr/>
        <p:txBody>
          <a:bodyPr/>
          <a:lstStyle/>
          <a:p>
            <a:r>
              <a:rPr lang="zh-TW">
                <a:ea typeface="+mj-lt"/>
                <a:cs typeface="+mj-lt"/>
              </a:rPr>
              <a:t>Program structure </a:t>
            </a:r>
            <a:endParaRPr lang="zh-TW"/>
          </a:p>
        </p:txBody>
      </p:sp>
      <p:sp>
        <p:nvSpPr>
          <p:cNvPr id="3" name="內容版面配置區 2">
            <a:extLst>
              <a:ext uri="{FF2B5EF4-FFF2-40B4-BE49-F238E27FC236}">
                <a16:creationId xmlns:a16="http://schemas.microsoft.com/office/drawing/2014/main" id="{BC5C030F-8B8E-BC0A-0508-1190A38C17DD}"/>
              </a:ext>
            </a:extLst>
          </p:cNvPr>
          <p:cNvSpPr>
            <a:spLocks noGrp="1"/>
          </p:cNvSpPr>
          <p:nvPr>
            <p:ph idx="1"/>
          </p:nvPr>
        </p:nvSpPr>
        <p:spPr/>
        <p:txBody>
          <a:bodyPr/>
          <a:lstStyle/>
          <a:p>
            <a:r>
              <a:rPr lang="en-US" altLang="zh-TW" dirty="0">
                <a:ea typeface="+mn-lt"/>
                <a:cs typeface="+mn-lt"/>
              </a:rPr>
              <a:t>D</a:t>
            </a:r>
            <a:r>
              <a:rPr lang="zh-TW">
                <a:ea typeface="+mn-lt"/>
                <a:cs typeface="+mn-lt"/>
              </a:rPr>
              <a:t>ictionary structure</a:t>
            </a:r>
            <a:r>
              <a:rPr lang="en-US" altLang="zh-TW" dirty="0">
                <a:ea typeface="+mn-lt"/>
                <a:cs typeface="+mn-lt"/>
              </a:rPr>
              <a:t>:</a:t>
            </a:r>
            <a:r>
              <a:rPr lang="zh-TW" dirty="0">
                <a:ea typeface="+mn-lt"/>
                <a:cs typeface="+mn-lt"/>
              </a:rPr>
              <a:t> </a:t>
            </a:r>
            <a:r>
              <a:rPr lang="en-US" altLang="zh-TW" dirty="0">
                <a:ea typeface="+mn-lt"/>
                <a:cs typeface="+mn-lt"/>
              </a:rPr>
              <a:t>S</a:t>
            </a:r>
            <a:r>
              <a:rPr lang="zh-TW">
                <a:ea typeface="+mn-lt"/>
                <a:cs typeface="+mn-lt"/>
              </a:rPr>
              <a:t>imple and direct. </a:t>
            </a:r>
            <a:r>
              <a:rPr lang="en-US" altLang="zh-TW" dirty="0">
                <a:ea typeface="+mn-lt"/>
                <a:cs typeface="+mn-lt"/>
              </a:rPr>
              <a:t>A</a:t>
            </a:r>
            <a:r>
              <a:rPr lang="zh-TW">
                <a:ea typeface="+mn-lt"/>
                <a:cs typeface="+mn-lt"/>
              </a:rPr>
              <a:t>llows for a quick lookup of the current scene and options</a:t>
            </a:r>
            <a:r>
              <a:rPr lang="en-US" altLang="zh-TW" dirty="0">
                <a:ea typeface="+mn-lt"/>
                <a:cs typeface="+mn-lt"/>
              </a:rPr>
              <a:t>.</a:t>
            </a:r>
            <a:endParaRPr lang="zh-TW" altLang="en-US" dirty="0"/>
          </a:p>
          <a:p>
            <a:pPr>
              <a:buSzPct val="114999"/>
            </a:pPr>
            <a:r>
              <a:rPr lang="en-US" altLang="zh-TW" dirty="0">
                <a:ea typeface="+mn-lt"/>
                <a:cs typeface="+mn-lt"/>
              </a:rPr>
              <a:t>Nested</a:t>
            </a:r>
            <a:r>
              <a:rPr lang="zh-TW" altLang="en-US" dirty="0">
                <a:ea typeface="+mn-lt"/>
                <a:cs typeface="+mn-lt"/>
              </a:rPr>
              <a:t> </a:t>
            </a:r>
            <a:r>
              <a:rPr lang="en-US" altLang="zh-TW" dirty="0">
                <a:ea typeface="+mn-lt"/>
                <a:cs typeface="+mn-lt"/>
              </a:rPr>
              <a:t>dictionaries:</a:t>
            </a:r>
            <a:r>
              <a:rPr lang="zh-TW" altLang="en-US" dirty="0">
                <a:ea typeface="+mn-lt"/>
                <a:cs typeface="+mn-lt"/>
              </a:rPr>
              <a:t> </a:t>
            </a:r>
            <a:r>
              <a:rPr lang="en-US" altLang="zh-TW" dirty="0">
                <a:ea typeface="+mn-lt"/>
                <a:cs typeface="+mn-lt"/>
              </a:rPr>
              <a:t>allow</a:t>
            </a:r>
            <a:r>
              <a:rPr lang="zh-TW" altLang="en-US" dirty="0">
                <a:ea typeface="+mn-lt"/>
                <a:cs typeface="+mn-lt"/>
              </a:rPr>
              <a:t> </a:t>
            </a:r>
            <a:r>
              <a:rPr lang="en-US" altLang="zh-TW" dirty="0">
                <a:ea typeface="+mn-lt"/>
                <a:cs typeface="+mn-lt"/>
              </a:rPr>
              <a:t>for</a:t>
            </a:r>
            <a:r>
              <a:rPr lang="zh-TW" altLang="en-US" dirty="0">
                <a:ea typeface="+mn-lt"/>
                <a:cs typeface="+mn-lt"/>
              </a:rPr>
              <a:t> </a:t>
            </a:r>
            <a:r>
              <a:rPr lang="en-US" altLang="zh-TW" dirty="0">
                <a:ea typeface="+mn-lt"/>
                <a:cs typeface="+mn-lt"/>
              </a:rPr>
              <a:t>direct</a:t>
            </a:r>
            <a:r>
              <a:rPr lang="zh-TW" altLang="en-US" dirty="0">
                <a:ea typeface="+mn-lt"/>
                <a:cs typeface="+mn-lt"/>
              </a:rPr>
              <a:t> </a:t>
            </a:r>
            <a:r>
              <a:rPr lang="en-US" altLang="zh-TW" dirty="0">
                <a:ea typeface="+mn-lt"/>
                <a:cs typeface="+mn-lt"/>
              </a:rPr>
              <a:t>expression</a:t>
            </a:r>
            <a:r>
              <a:rPr lang="zh-TW" altLang="en-US" dirty="0">
                <a:ea typeface="+mn-lt"/>
                <a:cs typeface="+mn-lt"/>
              </a:rPr>
              <a:t> </a:t>
            </a:r>
            <a:r>
              <a:rPr lang="en-US" altLang="zh-TW" dirty="0">
                <a:ea typeface="+mn-lt"/>
                <a:cs typeface="+mn-lt"/>
              </a:rPr>
              <a:t>of</a:t>
            </a:r>
            <a:r>
              <a:rPr lang="zh-TW" altLang="en-US" dirty="0">
                <a:ea typeface="+mn-lt"/>
                <a:cs typeface="+mn-lt"/>
              </a:rPr>
              <a:t> </a:t>
            </a:r>
            <a:r>
              <a:rPr lang="en-US" altLang="zh-TW" dirty="0">
                <a:ea typeface="+mn-lt"/>
                <a:cs typeface="+mn-lt"/>
              </a:rPr>
              <a:t>scene</a:t>
            </a:r>
            <a:r>
              <a:rPr lang="zh-TW" altLang="en-US" dirty="0">
                <a:ea typeface="+mn-lt"/>
                <a:cs typeface="+mn-lt"/>
              </a:rPr>
              <a:t> </a:t>
            </a:r>
            <a:r>
              <a:rPr lang="en-US" altLang="zh-TW" dirty="0">
                <a:ea typeface="+mn-lt"/>
                <a:cs typeface="+mn-lt"/>
              </a:rPr>
              <a:t>descriptions,</a:t>
            </a:r>
            <a:r>
              <a:rPr lang="zh-TW" altLang="en-US" dirty="0">
                <a:ea typeface="+mn-lt"/>
                <a:cs typeface="+mn-lt"/>
              </a:rPr>
              <a:t> </a:t>
            </a:r>
            <a:r>
              <a:rPr lang="en-US" altLang="zh-TW" dirty="0">
                <a:ea typeface="+mn-lt"/>
                <a:cs typeface="+mn-lt"/>
              </a:rPr>
              <a:t>options,</a:t>
            </a:r>
            <a:r>
              <a:rPr lang="zh-TW" altLang="en-US" dirty="0">
                <a:ea typeface="+mn-lt"/>
                <a:cs typeface="+mn-lt"/>
              </a:rPr>
              <a:t> </a:t>
            </a:r>
            <a:r>
              <a:rPr lang="en-US" altLang="zh-TW" dirty="0">
                <a:ea typeface="+mn-lt"/>
                <a:cs typeface="+mn-lt"/>
              </a:rPr>
              <a:t>and</a:t>
            </a:r>
            <a:r>
              <a:rPr lang="zh-TW" altLang="en-US" dirty="0">
                <a:ea typeface="+mn-lt"/>
                <a:cs typeface="+mn-lt"/>
              </a:rPr>
              <a:t> </a:t>
            </a:r>
            <a:r>
              <a:rPr lang="en-US" altLang="zh-TW" dirty="0">
                <a:ea typeface="+mn-lt"/>
                <a:cs typeface="+mn-lt"/>
              </a:rPr>
              <a:t>the</a:t>
            </a:r>
            <a:r>
              <a:rPr lang="zh-TW" altLang="en-US" dirty="0">
                <a:ea typeface="+mn-lt"/>
                <a:cs typeface="+mn-lt"/>
              </a:rPr>
              <a:t> </a:t>
            </a:r>
            <a:r>
              <a:rPr lang="en-US" altLang="zh-TW" dirty="0">
                <a:ea typeface="+mn-lt"/>
                <a:cs typeface="+mn-lt"/>
              </a:rPr>
              <a:t>logical</a:t>
            </a:r>
            <a:r>
              <a:rPr lang="zh-TW" altLang="en-US" dirty="0">
                <a:ea typeface="+mn-lt"/>
                <a:cs typeface="+mn-lt"/>
              </a:rPr>
              <a:t> </a:t>
            </a:r>
            <a:r>
              <a:rPr lang="en-US" altLang="zh-TW" dirty="0">
                <a:ea typeface="+mn-lt"/>
                <a:cs typeface="+mn-lt"/>
              </a:rPr>
              <a:t>relationships</a:t>
            </a:r>
            <a:r>
              <a:rPr lang="zh-TW" altLang="en-US" dirty="0">
                <a:ea typeface="+mn-lt"/>
                <a:cs typeface="+mn-lt"/>
              </a:rPr>
              <a:t> </a:t>
            </a:r>
            <a:r>
              <a:rPr lang="en-US" altLang="zh-TW" dirty="0">
                <a:ea typeface="+mn-lt"/>
                <a:cs typeface="+mn-lt"/>
              </a:rPr>
              <a:t>between</a:t>
            </a:r>
            <a:r>
              <a:rPr lang="zh-TW" altLang="en-US" dirty="0">
                <a:ea typeface="+mn-lt"/>
                <a:cs typeface="+mn-lt"/>
              </a:rPr>
              <a:t> </a:t>
            </a:r>
            <a:r>
              <a:rPr lang="en-US" altLang="zh-TW" dirty="0">
                <a:ea typeface="+mn-lt"/>
                <a:cs typeface="+mn-lt"/>
              </a:rPr>
              <a:t>scenes.</a:t>
            </a:r>
            <a:r>
              <a:rPr lang="zh-TW" altLang="en-US" dirty="0">
                <a:ea typeface="+mn-lt"/>
                <a:cs typeface="+mn-lt"/>
              </a:rPr>
              <a:t> </a:t>
            </a:r>
            <a:r>
              <a:rPr lang="en-US" altLang="zh-TW" dirty="0">
                <a:ea typeface="+mn-lt"/>
                <a:cs typeface="+mn-lt"/>
              </a:rPr>
              <a:t>And</a:t>
            </a:r>
            <a:r>
              <a:rPr lang="zh-TW" altLang="en-US" dirty="0">
                <a:ea typeface="+mn-lt"/>
                <a:cs typeface="+mn-lt"/>
              </a:rPr>
              <a:t> </a:t>
            </a:r>
            <a:r>
              <a:rPr lang="en-US" altLang="zh-TW" dirty="0">
                <a:ea typeface="+mn-lt"/>
                <a:cs typeface="+mn-lt"/>
              </a:rPr>
              <a:t>it</a:t>
            </a:r>
            <a:r>
              <a:rPr lang="zh-TW" altLang="en-US" dirty="0">
                <a:ea typeface="+mn-lt"/>
                <a:cs typeface="+mn-lt"/>
              </a:rPr>
              <a:t> </a:t>
            </a:r>
            <a:r>
              <a:rPr lang="en-US" altLang="zh-TW" dirty="0">
                <a:ea typeface="+mn-lt"/>
                <a:cs typeface="+mn-lt"/>
              </a:rPr>
              <a:t>directly</a:t>
            </a:r>
            <a:r>
              <a:rPr lang="zh-TW" altLang="en-US" dirty="0">
                <a:ea typeface="+mn-lt"/>
                <a:cs typeface="+mn-lt"/>
              </a:rPr>
              <a:t> </a:t>
            </a:r>
            <a:r>
              <a:rPr lang="en-US" altLang="zh-TW" dirty="0">
                <a:ea typeface="+mn-lt"/>
                <a:cs typeface="+mn-lt"/>
              </a:rPr>
              <a:t>corresponds</a:t>
            </a:r>
            <a:r>
              <a:rPr lang="zh-TW" altLang="en-US" dirty="0">
                <a:ea typeface="+mn-lt"/>
                <a:cs typeface="+mn-lt"/>
              </a:rPr>
              <a:t> </a:t>
            </a:r>
            <a:r>
              <a:rPr lang="en-US" altLang="zh-TW" dirty="0">
                <a:ea typeface="+mn-lt"/>
                <a:cs typeface="+mn-lt"/>
              </a:rPr>
              <a:t>to</a:t>
            </a:r>
            <a:r>
              <a:rPr lang="zh-TW" altLang="en-US" dirty="0">
                <a:ea typeface="+mn-lt"/>
                <a:cs typeface="+mn-lt"/>
              </a:rPr>
              <a:t> </a:t>
            </a:r>
            <a:r>
              <a:rPr lang="en-US" altLang="zh-TW" dirty="0">
                <a:ea typeface="+mn-lt"/>
                <a:cs typeface="+mn-lt"/>
              </a:rPr>
              <a:t>the</a:t>
            </a:r>
            <a:r>
              <a:rPr lang="zh-TW" altLang="en-US" dirty="0">
                <a:ea typeface="+mn-lt"/>
                <a:cs typeface="+mn-lt"/>
              </a:rPr>
              <a:t> </a:t>
            </a:r>
            <a:r>
              <a:rPr lang="en-US" altLang="zh-TW" dirty="0">
                <a:ea typeface="+mn-lt"/>
                <a:cs typeface="+mn-lt"/>
              </a:rPr>
              <a:t>JSON</a:t>
            </a:r>
            <a:r>
              <a:rPr lang="zh-TW" altLang="en-US" dirty="0">
                <a:ea typeface="+mn-lt"/>
                <a:cs typeface="+mn-lt"/>
              </a:rPr>
              <a:t> </a:t>
            </a:r>
            <a:r>
              <a:rPr lang="en-US" altLang="zh-TW" dirty="0">
                <a:ea typeface="+mn-lt"/>
                <a:cs typeface="+mn-lt"/>
              </a:rPr>
              <a:t>file</a:t>
            </a:r>
            <a:r>
              <a:rPr lang="zh-TW" altLang="en-US" dirty="0">
                <a:ea typeface="+mn-lt"/>
                <a:cs typeface="+mn-lt"/>
              </a:rPr>
              <a:t> </a:t>
            </a:r>
            <a:r>
              <a:rPr lang="en-US" altLang="zh-TW" dirty="0">
                <a:ea typeface="+mn-lt"/>
                <a:cs typeface="+mn-lt"/>
              </a:rPr>
              <a:t>structure.</a:t>
            </a:r>
            <a:r>
              <a:rPr lang="zh-TW" altLang="en-US" dirty="0">
                <a:ea typeface="+mn-lt"/>
                <a:cs typeface="+mn-lt"/>
              </a:rPr>
              <a:t> </a:t>
            </a:r>
            <a:r>
              <a:rPr lang="en-US" altLang="zh-TW" dirty="0">
                <a:ea typeface="+mn-lt"/>
                <a:cs typeface="+mn-lt"/>
              </a:rPr>
              <a:t>It</a:t>
            </a:r>
            <a:r>
              <a:rPr lang="zh-TW" altLang="en-US" dirty="0">
                <a:ea typeface="+mn-lt"/>
                <a:cs typeface="+mn-lt"/>
              </a:rPr>
              <a:t> </a:t>
            </a:r>
            <a:r>
              <a:rPr lang="en-US" altLang="zh-TW" dirty="0">
                <a:ea typeface="+mn-lt"/>
                <a:cs typeface="+mn-lt"/>
              </a:rPr>
              <a:t>is</a:t>
            </a:r>
            <a:r>
              <a:rPr lang="zh-TW" altLang="en-US" dirty="0">
                <a:ea typeface="+mn-lt"/>
                <a:cs typeface="+mn-lt"/>
              </a:rPr>
              <a:t> </a:t>
            </a:r>
            <a:r>
              <a:rPr lang="en-US" altLang="zh-TW" dirty="0">
                <a:ea typeface="+mn-lt"/>
                <a:cs typeface="+mn-lt"/>
              </a:rPr>
              <a:t>easier</a:t>
            </a:r>
            <a:r>
              <a:rPr lang="zh-TW" altLang="en-US" dirty="0">
                <a:ea typeface="+mn-lt"/>
                <a:cs typeface="+mn-lt"/>
              </a:rPr>
              <a:t> </a:t>
            </a:r>
            <a:r>
              <a:rPr lang="en-US" altLang="zh-TW" dirty="0">
                <a:ea typeface="+mn-lt"/>
                <a:cs typeface="+mn-lt"/>
              </a:rPr>
              <a:t>to</a:t>
            </a:r>
            <a:r>
              <a:rPr lang="zh-TW" altLang="en-US" dirty="0">
                <a:ea typeface="+mn-lt"/>
                <a:cs typeface="+mn-lt"/>
              </a:rPr>
              <a:t> </a:t>
            </a:r>
            <a:r>
              <a:rPr lang="en-US" altLang="zh-TW" dirty="0">
                <a:ea typeface="+mn-lt"/>
                <a:cs typeface="+mn-lt"/>
              </a:rPr>
              <a:t>apply</a:t>
            </a:r>
            <a:r>
              <a:rPr lang="zh-TW" altLang="en-US" dirty="0">
                <a:ea typeface="+mn-lt"/>
                <a:cs typeface="+mn-lt"/>
              </a:rPr>
              <a:t> </a:t>
            </a:r>
            <a:r>
              <a:rPr lang="en-US" altLang="zh-TW" dirty="0">
                <a:ea typeface="+mn-lt"/>
                <a:cs typeface="+mn-lt"/>
              </a:rPr>
              <a:t>the</a:t>
            </a:r>
            <a:r>
              <a:rPr lang="zh-TW" altLang="en-US" dirty="0">
                <a:ea typeface="+mn-lt"/>
                <a:cs typeface="+mn-lt"/>
              </a:rPr>
              <a:t> </a:t>
            </a:r>
            <a:r>
              <a:rPr lang="en-US" altLang="zh-TW" dirty="0">
                <a:ea typeface="+mn-lt"/>
                <a:cs typeface="+mn-lt"/>
              </a:rPr>
              <a:t>scene</a:t>
            </a:r>
            <a:r>
              <a:rPr lang="zh-TW" altLang="en-US" dirty="0">
                <a:ea typeface="+mn-lt"/>
                <a:cs typeface="+mn-lt"/>
              </a:rPr>
              <a:t> </a:t>
            </a:r>
            <a:r>
              <a:rPr lang="en-US" altLang="zh-TW" dirty="0">
                <a:ea typeface="+mn-lt"/>
                <a:cs typeface="+mn-lt"/>
              </a:rPr>
              <a:t>management</a:t>
            </a:r>
            <a:r>
              <a:rPr lang="zh-TW" altLang="en-US" dirty="0">
                <a:ea typeface="+mn-lt"/>
                <a:cs typeface="+mn-lt"/>
              </a:rPr>
              <a:t> </a:t>
            </a:r>
            <a:r>
              <a:rPr lang="en-US" altLang="zh-TW" dirty="0">
                <a:ea typeface="+mn-lt"/>
                <a:cs typeface="+mn-lt"/>
              </a:rPr>
              <a:t>function.</a:t>
            </a:r>
            <a:r>
              <a:rPr lang="zh-TW" altLang="en-US" dirty="0">
                <a:ea typeface="+mn-lt"/>
                <a:cs typeface="+mn-lt"/>
              </a:rPr>
              <a:t> </a:t>
            </a:r>
            <a:endParaRPr lang="zh-TW" dirty="0">
              <a:ea typeface="+mn-lt"/>
              <a:cs typeface="+mn-lt"/>
            </a:endParaRPr>
          </a:p>
          <a:p>
            <a:pPr>
              <a:buSzPct val="114999"/>
            </a:pPr>
            <a:endParaRPr lang="zh-TW" dirty="0"/>
          </a:p>
        </p:txBody>
      </p:sp>
    </p:spTree>
    <p:extLst>
      <p:ext uri="{BB962C8B-B14F-4D97-AF65-F5344CB8AC3E}">
        <p14:creationId xmlns:p14="http://schemas.microsoft.com/office/powerpoint/2010/main" val="2939246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45E6CB-3F7F-B084-C97F-167875DA737B}"/>
              </a:ext>
            </a:extLst>
          </p:cNvPr>
          <p:cNvSpPr>
            <a:spLocks noGrp="1"/>
          </p:cNvSpPr>
          <p:nvPr>
            <p:ph type="title"/>
          </p:nvPr>
        </p:nvSpPr>
        <p:spPr/>
        <p:txBody>
          <a:bodyPr/>
          <a:lstStyle/>
          <a:p>
            <a:r>
              <a:rPr lang="zh-TW"/>
              <a:t>Story generation </a:t>
            </a:r>
          </a:p>
        </p:txBody>
      </p:sp>
      <p:sp>
        <p:nvSpPr>
          <p:cNvPr id="3" name="內容版面配置區 2">
            <a:extLst>
              <a:ext uri="{FF2B5EF4-FFF2-40B4-BE49-F238E27FC236}">
                <a16:creationId xmlns:a16="http://schemas.microsoft.com/office/drawing/2014/main" id="{6A1A7E61-8B26-1362-F84D-AF0F2742BDCA}"/>
              </a:ext>
            </a:extLst>
          </p:cNvPr>
          <p:cNvSpPr>
            <a:spLocks noGrp="1"/>
          </p:cNvSpPr>
          <p:nvPr>
            <p:ph idx="1"/>
          </p:nvPr>
        </p:nvSpPr>
        <p:spPr/>
        <p:txBody>
          <a:bodyPr/>
          <a:lstStyle/>
          <a:p>
            <a:r>
              <a:rPr lang="zh-TW">
                <a:ea typeface="+mn-lt"/>
                <a:cs typeface="+mn-lt"/>
              </a:rPr>
              <a:t>Ask the LLM to generate a whole story and options.</a:t>
            </a:r>
            <a:endParaRPr lang="zh-TW" altLang="en-US">
              <a:ea typeface="新細明體" panose="02020500000000000000" pitchFamily="18" charset="-120"/>
              <a:cs typeface="+mn-lt"/>
            </a:endParaRPr>
          </a:p>
          <a:p>
            <a:pPr>
              <a:buSzPct val="114999"/>
            </a:pPr>
            <a:r>
              <a:rPr lang="en-US" altLang="zh-TW" dirty="0">
                <a:ea typeface="+mn-lt"/>
                <a:cs typeface="+mn-lt"/>
              </a:rPr>
              <a:t>M</a:t>
            </a:r>
            <a:r>
              <a:rPr lang="zh-TW">
                <a:ea typeface="+mn-lt"/>
                <a:cs typeface="+mn-lt"/>
              </a:rPr>
              <a:t>ore logical. The scene can match the previous scene. </a:t>
            </a:r>
            <a:endParaRPr lang="zh-TW" altLang="en-US" dirty="0">
              <a:ea typeface="新細明體"/>
              <a:cs typeface="+mn-lt"/>
            </a:endParaRPr>
          </a:p>
          <a:p>
            <a:pPr>
              <a:buSzPct val="114999"/>
            </a:pPr>
            <a:r>
              <a:rPr lang="en-US" altLang="zh-TW" dirty="0">
                <a:ea typeface="+mn-lt"/>
                <a:cs typeface="+mn-lt"/>
              </a:rPr>
              <a:t>Increase story completeness</a:t>
            </a:r>
            <a:r>
              <a:rPr lang="zh-TW" dirty="0">
                <a:ea typeface="+mn-lt"/>
                <a:cs typeface="+mn-lt"/>
              </a:rPr>
              <a:t> </a:t>
            </a:r>
            <a:r>
              <a:rPr lang="en-US" altLang="zh-TW" dirty="0">
                <a:ea typeface="+mn-lt"/>
                <a:cs typeface="+mn-lt"/>
              </a:rPr>
              <a:t>and</a:t>
            </a:r>
            <a:r>
              <a:rPr lang="zh-TW" dirty="0">
                <a:ea typeface="+mn-lt"/>
                <a:cs typeface="+mn-lt"/>
              </a:rPr>
              <a:t> </a:t>
            </a:r>
            <a:r>
              <a:rPr lang="en-US" altLang="zh-TW" dirty="0">
                <a:ea typeface="+mn-lt"/>
                <a:cs typeface="+mn-lt"/>
              </a:rPr>
              <a:t>logic</a:t>
            </a:r>
            <a:r>
              <a:rPr lang="zh-TW" altLang="en-US" dirty="0">
                <a:ea typeface="+mn-lt"/>
                <a:cs typeface="+mn-lt"/>
              </a:rPr>
              <a:t> </a:t>
            </a:r>
            <a:r>
              <a:rPr lang="zh-TW" dirty="0">
                <a:ea typeface="+mn-lt"/>
                <a:cs typeface="+mn-lt"/>
              </a:rPr>
              <a:t> </a:t>
            </a:r>
          </a:p>
          <a:p>
            <a:pPr>
              <a:buSzPct val="114999"/>
            </a:pPr>
            <a:r>
              <a:rPr lang="zh-TW">
                <a:ea typeface="+mn-lt"/>
                <a:cs typeface="+mn-lt"/>
              </a:rPr>
              <a:t>So this project chose to let LLM generate the whole story at the beginning.</a:t>
            </a:r>
          </a:p>
          <a:p>
            <a:pPr>
              <a:buSzPct val="114999"/>
            </a:pPr>
            <a:endParaRPr lang="zh-TW" dirty="0">
              <a:ea typeface="新細明體"/>
            </a:endParaRPr>
          </a:p>
        </p:txBody>
      </p:sp>
      <p:pic>
        <p:nvPicPr>
          <p:cNvPr id="5" name="圖片 4" descr="一張含有 文字, 螢幕擷取畫面, 陳列, 軟體 的圖片&#10;&#10;AI 產生的內容可能不正確。">
            <a:extLst>
              <a:ext uri="{FF2B5EF4-FFF2-40B4-BE49-F238E27FC236}">
                <a16:creationId xmlns:a16="http://schemas.microsoft.com/office/drawing/2014/main" id="{1CF31219-9DBC-BB8B-6756-4EB27E3ED52E}"/>
              </a:ext>
            </a:extLst>
          </p:cNvPr>
          <p:cNvPicPr>
            <a:picLocks noChangeAspect="1"/>
          </p:cNvPicPr>
          <p:nvPr/>
        </p:nvPicPr>
        <p:blipFill>
          <a:blip r:embed="rId2"/>
          <a:stretch>
            <a:fillRect/>
          </a:stretch>
        </p:blipFill>
        <p:spPr>
          <a:xfrm>
            <a:off x="2493202" y="4494458"/>
            <a:ext cx="5724525" cy="2247900"/>
          </a:xfrm>
          <a:prstGeom prst="rect">
            <a:avLst/>
          </a:prstGeom>
        </p:spPr>
      </p:pic>
    </p:spTree>
    <p:extLst>
      <p:ext uri="{BB962C8B-B14F-4D97-AF65-F5344CB8AC3E}">
        <p14:creationId xmlns:p14="http://schemas.microsoft.com/office/powerpoint/2010/main" val="3120006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5943AC-32EA-2A97-350D-BBE0646EFF96}"/>
              </a:ext>
            </a:extLst>
          </p:cNvPr>
          <p:cNvSpPr>
            <a:spLocks noGrp="1"/>
          </p:cNvSpPr>
          <p:nvPr>
            <p:ph type="title"/>
          </p:nvPr>
        </p:nvSpPr>
        <p:spPr/>
        <p:txBody>
          <a:bodyPr/>
          <a:lstStyle/>
          <a:p>
            <a:r>
              <a:rPr lang="zh-TW" sz="4000">
                <a:solidFill>
                  <a:srgbClr val="000000"/>
                </a:solidFill>
                <a:highlight>
                  <a:srgbClr val="FFFFFF"/>
                </a:highlight>
                <a:latin typeface="Garamond"/>
                <a:cs typeface="Times New Roman"/>
              </a:rPr>
              <a:t>System design </a:t>
            </a:r>
            <a:endParaRPr lang="zh-TW">
              <a:latin typeface="Garamond"/>
              <a:cs typeface="Times New Roman"/>
            </a:endParaRPr>
          </a:p>
        </p:txBody>
      </p:sp>
      <p:sp>
        <p:nvSpPr>
          <p:cNvPr id="3" name="內容版面配置區 2">
            <a:extLst>
              <a:ext uri="{FF2B5EF4-FFF2-40B4-BE49-F238E27FC236}">
                <a16:creationId xmlns:a16="http://schemas.microsoft.com/office/drawing/2014/main" id="{FD8E2832-E006-C4C0-7651-A5B425C9B29F}"/>
              </a:ext>
            </a:extLst>
          </p:cNvPr>
          <p:cNvSpPr>
            <a:spLocks noGrp="1"/>
          </p:cNvSpPr>
          <p:nvPr>
            <p:ph idx="1"/>
          </p:nvPr>
        </p:nvSpPr>
        <p:spPr/>
        <p:txBody>
          <a:bodyPr>
            <a:normAutofit/>
          </a:bodyPr>
          <a:lstStyle/>
          <a:p>
            <a:r>
              <a:rPr lang="en-US" altLang="zh-TW" dirty="0">
                <a:solidFill>
                  <a:srgbClr val="000000"/>
                </a:solidFill>
                <a:latin typeface="Times New Roman"/>
                <a:ea typeface="+mn-lt"/>
                <a:cs typeface="Times New Roman"/>
              </a:rPr>
              <a:t>Environment Stability Layer: Handles encoding issues, ensuring the correct display of Chinese characters (UTF-8) across different terminals.</a:t>
            </a:r>
          </a:p>
          <a:p>
            <a:pPr>
              <a:buSzPct val="114999"/>
            </a:pPr>
            <a:endParaRPr lang="en-US" altLang="zh-TW" dirty="0">
              <a:solidFill>
                <a:srgbClr val="000000"/>
              </a:solidFill>
              <a:latin typeface="Times New Roman"/>
              <a:cs typeface="Times New Roman"/>
            </a:endParaRPr>
          </a:p>
        </p:txBody>
      </p:sp>
      <p:pic>
        <p:nvPicPr>
          <p:cNvPr id="4" name="圖片 3" descr="一張含有 文字, 字型, 螢幕擷取畫面, 行 的圖片&#10;&#10;AI 產生的內容可能不正確。">
            <a:extLst>
              <a:ext uri="{FF2B5EF4-FFF2-40B4-BE49-F238E27FC236}">
                <a16:creationId xmlns:a16="http://schemas.microsoft.com/office/drawing/2014/main" id="{42A77B78-2B47-A0C6-A709-DD075F49A27C}"/>
              </a:ext>
            </a:extLst>
          </p:cNvPr>
          <p:cNvPicPr>
            <a:picLocks noChangeAspect="1"/>
          </p:cNvPicPr>
          <p:nvPr/>
        </p:nvPicPr>
        <p:blipFill>
          <a:blip r:embed="rId2"/>
          <a:stretch>
            <a:fillRect/>
          </a:stretch>
        </p:blipFill>
        <p:spPr>
          <a:xfrm>
            <a:off x="1531291" y="4597274"/>
            <a:ext cx="8886256" cy="1011640"/>
          </a:xfrm>
          <a:prstGeom prst="rect">
            <a:avLst/>
          </a:prstGeom>
        </p:spPr>
      </p:pic>
    </p:spTree>
    <p:extLst>
      <p:ext uri="{BB962C8B-B14F-4D97-AF65-F5344CB8AC3E}">
        <p14:creationId xmlns:p14="http://schemas.microsoft.com/office/powerpoint/2010/main" val="644264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195F9D-1158-0981-0EA1-B19728CDA3A8}"/>
              </a:ext>
            </a:extLst>
          </p:cNvPr>
          <p:cNvSpPr>
            <a:spLocks noGrp="1"/>
          </p:cNvSpPr>
          <p:nvPr>
            <p:ph type="title"/>
          </p:nvPr>
        </p:nvSpPr>
        <p:spPr/>
        <p:txBody>
          <a:bodyPr>
            <a:normAutofit/>
          </a:bodyPr>
          <a:lstStyle/>
          <a:p>
            <a:r>
              <a:rPr lang="en-US" altLang="zh-TW" sz="4000" dirty="0">
                <a:solidFill>
                  <a:srgbClr val="000000"/>
                </a:solidFill>
                <a:latin typeface="Garamond"/>
                <a:ea typeface="+mj-lt"/>
                <a:cs typeface="Times New Roman"/>
              </a:rPr>
              <a:t>Configuration Management Layer: </a:t>
            </a:r>
            <a:endParaRPr lang="zh-TW" sz="4000">
              <a:latin typeface="Garamond"/>
            </a:endParaRPr>
          </a:p>
        </p:txBody>
      </p:sp>
      <p:sp>
        <p:nvSpPr>
          <p:cNvPr id="3" name="內容版面配置區 2">
            <a:extLst>
              <a:ext uri="{FF2B5EF4-FFF2-40B4-BE49-F238E27FC236}">
                <a16:creationId xmlns:a16="http://schemas.microsoft.com/office/drawing/2014/main" id="{A29D2DF8-B69B-E182-4C95-C0057E897A81}"/>
              </a:ext>
            </a:extLst>
          </p:cNvPr>
          <p:cNvSpPr>
            <a:spLocks noGrp="1"/>
          </p:cNvSpPr>
          <p:nvPr>
            <p:ph idx="1"/>
          </p:nvPr>
        </p:nvSpPr>
        <p:spPr/>
        <p:txBody>
          <a:bodyPr>
            <a:normAutofit/>
          </a:bodyPr>
          <a:lstStyle/>
          <a:p>
            <a:r>
              <a:rPr lang="en-US" altLang="zh-TW" dirty="0">
                <a:solidFill>
                  <a:srgbClr val="000000"/>
                </a:solidFill>
                <a:latin typeface="Times New Roman"/>
                <a:ea typeface="+mn-lt"/>
                <a:cs typeface="Times New Roman"/>
              </a:rPr>
              <a:t>Centrally manages API keys, model names, and file paths</a:t>
            </a:r>
            <a:endParaRPr lang="zh-TW" altLang="en-US" dirty="0">
              <a:solidFill>
                <a:srgbClr val="262626"/>
              </a:solidFill>
              <a:latin typeface="Garamond" panose="02020404030301010803"/>
              <a:ea typeface="新細明體" panose="02020500000000000000" pitchFamily="18" charset="-120"/>
              <a:cs typeface="Times New Roman"/>
            </a:endParaRPr>
          </a:p>
          <a:p>
            <a:pPr>
              <a:buSzPct val="114999"/>
            </a:pPr>
            <a:endParaRPr lang="en-US" altLang="zh-TW" dirty="0">
              <a:solidFill>
                <a:srgbClr val="000000"/>
              </a:solidFill>
              <a:latin typeface="Times New Roman"/>
              <a:cs typeface="Times New Roman"/>
            </a:endParaRPr>
          </a:p>
        </p:txBody>
      </p:sp>
      <p:pic>
        <p:nvPicPr>
          <p:cNvPr id="4" name="圖片 3" descr="一張含有 文字, 螢幕擷取畫面, 字型 的圖片&#10;&#10;AI 產生的內容可能不正確。">
            <a:extLst>
              <a:ext uri="{FF2B5EF4-FFF2-40B4-BE49-F238E27FC236}">
                <a16:creationId xmlns:a16="http://schemas.microsoft.com/office/drawing/2014/main" id="{77DF8A34-0E2A-5487-69CC-143656548B1F}"/>
              </a:ext>
            </a:extLst>
          </p:cNvPr>
          <p:cNvPicPr>
            <a:picLocks noChangeAspect="1"/>
          </p:cNvPicPr>
          <p:nvPr/>
        </p:nvPicPr>
        <p:blipFill>
          <a:blip r:embed="rId2"/>
          <a:stretch>
            <a:fillRect/>
          </a:stretch>
        </p:blipFill>
        <p:spPr>
          <a:xfrm>
            <a:off x="3848100" y="3605414"/>
            <a:ext cx="4495800" cy="1428750"/>
          </a:xfrm>
          <a:prstGeom prst="rect">
            <a:avLst/>
          </a:prstGeom>
        </p:spPr>
      </p:pic>
    </p:spTree>
    <p:extLst>
      <p:ext uri="{BB962C8B-B14F-4D97-AF65-F5344CB8AC3E}">
        <p14:creationId xmlns:p14="http://schemas.microsoft.com/office/powerpoint/2010/main" val="1383601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2AB913-94A6-279E-6B9F-B6C5C90CE55B}"/>
              </a:ext>
            </a:extLst>
          </p:cNvPr>
          <p:cNvSpPr>
            <a:spLocks noGrp="1"/>
          </p:cNvSpPr>
          <p:nvPr>
            <p:ph type="title"/>
          </p:nvPr>
        </p:nvSpPr>
        <p:spPr/>
        <p:txBody>
          <a:bodyPr>
            <a:normAutofit/>
          </a:bodyPr>
          <a:lstStyle/>
          <a:p>
            <a:r>
              <a:rPr lang="zh-TW" sz="4000">
                <a:solidFill>
                  <a:srgbClr val="000000"/>
                </a:solidFill>
                <a:latin typeface="Garamond"/>
                <a:ea typeface="微軟正黑體"/>
                <a:cs typeface="Times New Roman"/>
              </a:rPr>
              <a:t>Data Handling Layer</a:t>
            </a:r>
            <a:endParaRPr lang="zh-TW" sz="4000">
              <a:latin typeface="Garamond"/>
              <a:ea typeface="微軟正黑體"/>
            </a:endParaRPr>
          </a:p>
        </p:txBody>
      </p:sp>
      <p:sp>
        <p:nvSpPr>
          <p:cNvPr id="3" name="內容版面配置區 2">
            <a:extLst>
              <a:ext uri="{FF2B5EF4-FFF2-40B4-BE49-F238E27FC236}">
                <a16:creationId xmlns:a16="http://schemas.microsoft.com/office/drawing/2014/main" id="{4BCAB0A7-894D-E412-DF39-E0926AB1EDCE}"/>
              </a:ext>
            </a:extLst>
          </p:cNvPr>
          <p:cNvSpPr>
            <a:spLocks noGrp="1"/>
          </p:cNvSpPr>
          <p:nvPr>
            <p:ph idx="1"/>
          </p:nvPr>
        </p:nvSpPr>
        <p:spPr/>
        <p:txBody>
          <a:bodyPr>
            <a:normAutofit/>
          </a:bodyPr>
          <a:lstStyle/>
          <a:p>
            <a:r>
              <a:rPr lang="zh-TW">
                <a:solidFill>
                  <a:srgbClr val="000000"/>
                </a:solidFill>
                <a:latin typeface="Times New Roman"/>
                <a:ea typeface="新細明體"/>
                <a:cs typeface="Times New Roman"/>
              </a:rPr>
              <a:t>Responsible for reading and writing JSON files and automatic backup</a:t>
            </a:r>
          </a:p>
          <a:p>
            <a:pPr>
              <a:buSzPct val="114999"/>
            </a:pPr>
            <a:endParaRPr lang="zh-TW" dirty="0">
              <a:solidFill>
                <a:srgbClr val="000000"/>
              </a:solidFill>
              <a:latin typeface="Times New Roman"/>
              <a:ea typeface="新細明體"/>
              <a:cs typeface="Times New Roman"/>
            </a:endParaRPr>
          </a:p>
        </p:txBody>
      </p:sp>
      <p:pic>
        <p:nvPicPr>
          <p:cNvPr id="4" name="圖片 3" descr="一張含有 文字, 螢幕擷取畫面, 字型 的圖片&#10;&#10;AI 產生的內容可能不正確。">
            <a:extLst>
              <a:ext uri="{FF2B5EF4-FFF2-40B4-BE49-F238E27FC236}">
                <a16:creationId xmlns:a16="http://schemas.microsoft.com/office/drawing/2014/main" id="{D331D906-1BE8-D78D-96C0-EF570B429A8A}"/>
              </a:ext>
            </a:extLst>
          </p:cNvPr>
          <p:cNvPicPr>
            <a:picLocks noChangeAspect="1"/>
          </p:cNvPicPr>
          <p:nvPr/>
        </p:nvPicPr>
        <p:blipFill>
          <a:blip r:embed="rId2"/>
          <a:stretch>
            <a:fillRect/>
          </a:stretch>
        </p:blipFill>
        <p:spPr>
          <a:xfrm>
            <a:off x="3233738" y="3031834"/>
            <a:ext cx="5724525" cy="2962275"/>
          </a:xfrm>
          <a:prstGeom prst="rect">
            <a:avLst/>
          </a:prstGeom>
        </p:spPr>
      </p:pic>
    </p:spTree>
    <p:extLst>
      <p:ext uri="{BB962C8B-B14F-4D97-AF65-F5344CB8AC3E}">
        <p14:creationId xmlns:p14="http://schemas.microsoft.com/office/powerpoint/2010/main" val="923756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77DF4A-7055-9BDE-AB81-FA4F046C51F1}"/>
              </a:ext>
            </a:extLst>
          </p:cNvPr>
          <p:cNvSpPr>
            <a:spLocks noGrp="1"/>
          </p:cNvSpPr>
          <p:nvPr>
            <p:ph type="title"/>
          </p:nvPr>
        </p:nvSpPr>
        <p:spPr/>
        <p:txBody>
          <a:bodyPr>
            <a:normAutofit/>
          </a:bodyPr>
          <a:lstStyle/>
          <a:p>
            <a:r>
              <a:rPr lang="zh-TW" sz="4000">
                <a:solidFill>
                  <a:srgbClr val="000000"/>
                </a:solidFill>
                <a:latin typeface="Times New Roman"/>
                <a:ea typeface="微軟正黑體"/>
                <a:cs typeface="Times New Roman"/>
              </a:rPr>
              <a:t>AI Generation Engine</a:t>
            </a:r>
            <a:endParaRPr lang="zh-TW" sz="4000">
              <a:ea typeface="微軟正黑體"/>
            </a:endParaRPr>
          </a:p>
        </p:txBody>
      </p:sp>
      <p:sp>
        <p:nvSpPr>
          <p:cNvPr id="3" name="內容版面配置區 2">
            <a:extLst>
              <a:ext uri="{FF2B5EF4-FFF2-40B4-BE49-F238E27FC236}">
                <a16:creationId xmlns:a16="http://schemas.microsoft.com/office/drawing/2014/main" id="{EC9B67CF-5C4B-6BCF-5904-18BAE81D29D1}"/>
              </a:ext>
            </a:extLst>
          </p:cNvPr>
          <p:cNvSpPr>
            <a:spLocks noGrp="1"/>
          </p:cNvSpPr>
          <p:nvPr>
            <p:ph idx="1"/>
          </p:nvPr>
        </p:nvSpPr>
        <p:spPr/>
        <p:txBody>
          <a:bodyPr vert="horz" lIns="91440" tIns="45720" rIns="91440" bIns="45720" rtlCol="0" anchor="t">
            <a:noAutofit/>
          </a:bodyPr>
          <a:lstStyle/>
          <a:p>
            <a:r>
              <a:rPr lang="en-US" altLang="zh-TW" dirty="0">
                <a:highlight>
                  <a:srgbClr val="FFFFFF"/>
                </a:highlight>
                <a:latin typeface="Times New Roman"/>
                <a:ea typeface="新細明體"/>
                <a:cs typeface="Times New Roman"/>
              </a:rPr>
              <a:t>Scale Limitation</a:t>
            </a:r>
          </a:p>
          <a:p>
            <a:pPr>
              <a:buSzPct val="114999"/>
            </a:pPr>
            <a:r>
              <a:rPr lang="en-US" altLang="zh-TW" dirty="0">
                <a:highlight>
                  <a:srgbClr val="FFFFFF"/>
                </a:highlight>
                <a:latin typeface="Times New Roman"/>
                <a:ea typeface="新細明體"/>
                <a:cs typeface="Times New Roman"/>
              </a:rPr>
              <a:t>Causal Continuity</a:t>
            </a:r>
          </a:p>
          <a:p>
            <a:pPr>
              <a:buSzPct val="114999"/>
            </a:pPr>
            <a:r>
              <a:rPr lang="en-US" altLang="zh-TW" dirty="0">
                <a:highlight>
                  <a:srgbClr val="FFFFFF"/>
                </a:highlight>
                <a:latin typeface="Times New Roman"/>
                <a:ea typeface="新細明體"/>
                <a:cs typeface="Times New Roman"/>
              </a:rPr>
              <a:t>Safety and Style</a:t>
            </a:r>
          </a:p>
          <a:p>
            <a:pPr>
              <a:buSzPct val="114999"/>
            </a:pPr>
            <a:r>
              <a:rPr lang="en-US" altLang="zh-TW" dirty="0">
                <a:highlight>
                  <a:srgbClr val="FFFFFF"/>
                </a:highlight>
                <a:latin typeface="Times New Roman"/>
                <a:ea typeface="新細明體"/>
                <a:cs typeface="Times New Roman"/>
              </a:rPr>
              <a:t>Structural Integrity</a:t>
            </a:r>
          </a:p>
          <a:p>
            <a:pPr>
              <a:buSzPct val="114999"/>
            </a:pPr>
            <a:r>
              <a:rPr lang="en-US" altLang="zh-TW" dirty="0">
                <a:highlight>
                  <a:srgbClr val="FFFFFF"/>
                </a:highlight>
                <a:latin typeface="Times New Roman"/>
                <a:ea typeface="新細明體"/>
                <a:cs typeface="Times New Roman"/>
              </a:rPr>
              <a:t>Positive ending</a:t>
            </a:r>
          </a:p>
          <a:p>
            <a:pPr>
              <a:buSzPct val="114999"/>
            </a:pPr>
            <a:endParaRPr lang="zh-TW" altLang="en-US" dirty="0">
              <a:ea typeface="新細明體"/>
            </a:endParaRPr>
          </a:p>
        </p:txBody>
      </p:sp>
      <p:pic>
        <p:nvPicPr>
          <p:cNvPr id="4" name="圖片 3" descr="一張含有 文字, 螢幕擷取畫面, 軟體, 字型 的圖片&#10;&#10;AI 產生的內容可能不正確。">
            <a:extLst>
              <a:ext uri="{FF2B5EF4-FFF2-40B4-BE49-F238E27FC236}">
                <a16:creationId xmlns:a16="http://schemas.microsoft.com/office/drawing/2014/main" id="{99F7CDC8-F497-4309-81D1-5D1D6F982428}"/>
              </a:ext>
            </a:extLst>
          </p:cNvPr>
          <p:cNvPicPr>
            <a:picLocks noChangeAspect="1"/>
          </p:cNvPicPr>
          <p:nvPr/>
        </p:nvPicPr>
        <p:blipFill>
          <a:blip r:embed="rId2"/>
          <a:stretch>
            <a:fillRect/>
          </a:stretch>
        </p:blipFill>
        <p:spPr>
          <a:xfrm>
            <a:off x="5283625" y="2553706"/>
            <a:ext cx="5724525" cy="3038475"/>
          </a:xfrm>
          <a:prstGeom prst="rect">
            <a:avLst/>
          </a:prstGeom>
        </p:spPr>
      </p:pic>
    </p:spTree>
    <p:extLst>
      <p:ext uri="{BB962C8B-B14F-4D97-AF65-F5344CB8AC3E}">
        <p14:creationId xmlns:p14="http://schemas.microsoft.com/office/powerpoint/2010/main" val="2863090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D799C0-BE88-271B-04DD-B5B0B541BB24}"/>
              </a:ext>
            </a:extLst>
          </p:cNvPr>
          <p:cNvSpPr>
            <a:spLocks noGrp="1"/>
          </p:cNvSpPr>
          <p:nvPr>
            <p:ph type="title"/>
          </p:nvPr>
        </p:nvSpPr>
        <p:spPr/>
        <p:txBody>
          <a:bodyPr>
            <a:normAutofit/>
          </a:bodyPr>
          <a:lstStyle/>
          <a:p>
            <a:r>
              <a:rPr lang="en-US" altLang="zh-TW" sz="4000" dirty="0">
                <a:solidFill>
                  <a:srgbClr val="000000"/>
                </a:solidFill>
                <a:highlight>
                  <a:srgbClr val="FFFFFF"/>
                </a:highlight>
                <a:latin typeface="Times New Roman"/>
                <a:ea typeface="+mj-lt"/>
                <a:cs typeface="Times New Roman"/>
              </a:rPr>
              <a:t>GUI Interaction Layer</a:t>
            </a:r>
            <a:endParaRPr lang="zh-TW" sz="4000" dirty="0"/>
          </a:p>
        </p:txBody>
      </p:sp>
      <p:sp>
        <p:nvSpPr>
          <p:cNvPr id="3" name="內容版面配置區 2">
            <a:extLst>
              <a:ext uri="{FF2B5EF4-FFF2-40B4-BE49-F238E27FC236}">
                <a16:creationId xmlns:a16="http://schemas.microsoft.com/office/drawing/2014/main" id="{2C391976-1E6F-BBC5-0DFE-B3A659BAE6BA}"/>
              </a:ext>
            </a:extLst>
          </p:cNvPr>
          <p:cNvSpPr>
            <a:spLocks noGrp="1"/>
          </p:cNvSpPr>
          <p:nvPr>
            <p:ph idx="1"/>
          </p:nvPr>
        </p:nvSpPr>
        <p:spPr/>
        <p:txBody>
          <a:bodyPr>
            <a:normAutofit/>
          </a:bodyPr>
          <a:lstStyle/>
          <a:p>
            <a:r>
              <a:rPr lang="en-US" altLang="zh-TW" dirty="0">
                <a:solidFill>
                  <a:srgbClr val="000000"/>
                </a:solidFill>
                <a:highlight>
                  <a:srgbClr val="FFFFFF"/>
                </a:highlight>
                <a:latin typeface="Times New Roman"/>
                <a:ea typeface="+mn-lt"/>
                <a:cs typeface="Times New Roman"/>
              </a:rPr>
              <a:t>Based on </a:t>
            </a:r>
            <a:r>
              <a:rPr lang="en-US" altLang="zh-TW" dirty="0" err="1">
                <a:solidFill>
                  <a:srgbClr val="000000"/>
                </a:solidFill>
                <a:highlight>
                  <a:srgbClr val="FFFFFF"/>
                </a:highlight>
                <a:latin typeface="Times New Roman"/>
                <a:ea typeface="+mn-lt"/>
                <a:cs typeface="Times New Roman"/>
              </a:rPr>
              <a:t>tkinter</a:t>
            </a:r>
            <a:r>
              <a:rPr lang="en-US" altLang="zh-TW" dirty="0">
                <a:solidFill>
                  <a:srgbClr val="000000"/>
                </a:solidFill>
                <a:highlight>
                  <a:srgbClr val="FFFFFF"/>
                </a:highlight>
                <a:latin typeface="Times New Roman"/>
                <a:ea typeface="+mn-lt"/>
                <a:cs typeface="Times New Roman"/>
              </a:rPr>
              <a:t> category design, manages view switching (main menu, settings page, game page).</a:t>
            </a:r>
            <a:endParaRPr lang="zh-TW" altLang="en-US" dirty="0">
              <a:solidFill>
                <a:srgbClr val="000000"/>
              </a:solidFill>
              <a:highlight>
                <a:srgbClr val="FFFFFF"/>
              </a:highlight>
              <a:latin typeface="Times New Roman"/>
              <a:ea typeface="新細明體" panose="02020500000000000000" pitchFamily="18" charset="-120"/>
              <a:cs typeface="Times New Roman"/>
            </a:endParaRPr>
          </a:p>
          <a:p>
            <a:pPr>
              <a:buSzPct val="114999"/>
            </a:pPr>
            <a:endParaRPr lang="en-US" altLang="zh-TW" dirty="0">
              <a:solidFill>
                <a:srgbClr val="000000"/>
              </a:solidFill>
              <a:highlight>
                <a:srgbClr val="FFFFFF"/>
              </a:highlight>
              <a:latin typeface="Times New Roman"/>
              <a:cs typeface="Times New Roman"/>
            </a:endParaRPr>
          </a:p>
        </p:txBody>
      </p:sp>
      <p:pic>
        <p:nvPicPr>
          <p:cNvPr id="4" name="圖片 3" descr="一張含有 文字, 螢幕擷取畫面, 軟體, 陳列 的圖片&#10;&#10;AI 產生的內容可能不正確。">
            <a:extLst>
              <a:ext uri="{FF2B5EF4-FFF2-40B4-BE49-F238E27FC236}">
                <a16:creationId xmlns:a16="http://schemas.microsoft.com/office/drawing/2014/main" id="{14A5B334-FC9C-8C9A-F17D-886506064DBE}"/>
              </a:ext>
            </a:extLst>
          </p:cNvPr>
          <p:cNvPicPr>
            <a:picLocks noChangeAspect="1"/>
          </p:cNvPicPr>
          <p:nvPr/>
        </p:nvPicPr>
        <p:blipFill>
          <a:blip r:embed="rId2"/>
          <a:stretch>
            <a:fillRect/>
          </a:stretch>
        </p:blipFill>
        <p:spPr>
          <a:xfrm>
            <a:off x="3051287" y="3429537"/>
            <a:ext cx="5724525" cy="2209800"/>
          </a:xfrm>
          <a:prstGeom prst="rect">
            <a:avLst/>
          </a:prstGeom>
        </p:spPr>
      </p:pic>
    </p:spTree>
    <p:extLst>
      <p:ext uri="{BB962C8B-B14F-4D97-AF65-F5344CB8AC3E}">
        <p14:creationId xmlns:p14="http://schemas.microsoft.com/office/powerpoint/2010/main" val="2069733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6" name="Rectangle 10">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2">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4" name="Picture 13">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Rectangle 14">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6" name="Picture 15">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7" name="Picture 16">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標題 1">
            <a:extLst>
              <a:ext uri="{FF2B5EF4-FFF2-40B4-BE49-F238E27FC236}">
                <a16:creationId xmlns:a16="http://schemas.microsoft.com/office/drawing/2014/main" id="{0C2043BF-2416-CCA8-3229-2920344853DC}"/>
              </a:ext>
            </a:extLst>
          </p:cNvPr>
          <p:cNvSpPr>
            <a:spLocks noGrp="1"/>
          </p:cNvSpPr>
          <p:nvPr>
            <p:ph type="title"/>
          </p:nvPr>
        </p:nvSpPr>
        <p:spPr>
          <a:xfrm>
            <a:off x="1295402" y="982132"/>
            <a:ext cx="3660056" cy="1325373"/>
          </a:xfrm>
        </p:spPr>
        <p:txBody>
          <a:bodyPr anchor="b">
            <a:normAutofit/>
          </a:bodyPr>
          <a:lstStyle/>
          <a:p>
            <a:r>
              <a:rPr lang="en-US" altLang="zh-TW" sz="2800">
                <a:solidFill>
                  <a:srgbClr val="262626"/>
                </a:solidFill>
                <a:latin typeface="Garamond"/>
                <a:ea typeface="微軟正黑體"/>
                <a:cs typeface="Times New Roman"/>
              </a:rPr>
              <a:t>Workload</a:t>
            </a:r>
            <a:endParaRPr lang="zh-TW" altLang="en-US" sz="2800">
              <a:solidFill>
                <a:srgbClr val="262626"/>
              </a:solidFill>
              <a:latin typeface="Garamond"/>
              <a:ea typeface="微軟正黑體"/>
              <a:cs typeface="Times New Roman"/>
            </a:endParaRPr>
          </a:p>
          <a:p>
            <a:endParaRPr lang="zh-TW" sz="2800">
              <a:solidFill>
                <a:srgbClr val="262626"/>
              </a:solidFill>
              <a:highlight>
                <a:srgbClr val="FFFFFF"/>
              </a:highlight>
              <a:latin typeface="Times New Roman"/>
              <a:cs typeface="Times New Roman"/>
            </a:endParaRPr>
          </a:p>
        </p:txBody>
      </p:sp>
      <p:cxnSp>
        <p:nvCxnSpPr>
          <p:cNvPr id="9" name="Straight Connector 18">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Content Placeholder 7">
            <a:extLst>
              <a:ext uri="{FF2B5EF4-FFF2-40B4-BE49-F238E27FC236}">
                <a16:creationId xmlns:a16="http://schemas.microsoft.com/office/drawing/2014/main" id="{5CF55C2E-B820-3697-4B7E-A0526480656B}"/>
              </a:ext>
            </a:extLst>
          </p:cNvPr>
          <p:cNvSpPr>
            <a:spLocks noGrp="1"/>
          </p:cNvSpPr>
          <p:nvPr>
            <p:ph idx="1"/>
          </p:nvPr>
        </p:nvSpPr>
        <p:spPr>
          <a:xfrm>
            <a:off x="1295401" y="2493774"/>
            <a:ext cx="3660057" cy="3382094"/>
          </a:xfrm>
        </p:spPr>
        <p:txBody>
          <a:bodyPr>
            <a:normAutofit/>
          </a:bodyPr>
          <a:lstStyle/>
          <a:p>
            <a:pPr algn="ctr"/>
            <a:endParaRPr lang="en-US" sz="1600">
              <a:solidFill>
                <a:srgbClr val="262626"/>
              </a:solidFill>
            </a:endParaRPr>
          </a:p>
        </p:txBody>
      </p:sp>
      <p:pic>
        <p:nvPicPr>
          <p:cNvPr id="4" name="內容版面配置區 3" descr="一張含有 文字, 螢幕擷取畫面, 數字, 字型 的圖片&#10;&#10;AI 產生的內容可能不正確。">
            <a:extLst>
              <a:ext uri="{FF2B5EF4-FFF2-40B4-BE49-F238E27FC236}">
                <a16:creationId xmlns:a16="http://schemas.microsoft.com/office/drawing/2014/main" id="{99E9E112-5573-E2F0-EBFC-E28DF003DE26}"/>
              </a:ext>
            </a:extLst>
          </p:cNvPr>
          <p:cNvPicPr>
            <a:picLocks noChangeAspect="1"/>
          </p:cNvPicPr>
          <p:nvPr/>
        </p:nvPicPr>
        <p:blipFill>
          <a:blip r:embed="rId5"/>
          <a:stretch>
            <a:fillRect/>
          </a:stretch>
        </p:blipFill>
        <p:spPr>
          <a:xfrm>
            <a:off x="4417833" y="23834"/>
            <a:ext cx="7562121" cy="6833074"/>
          </a:xfrm>
          <a:prstGeom prst="rect">
            <a:avLst/>
          </a:prstGeom>
          <a:ln w="57150" cmpd="thickThin">
            <a:solidFill>
              <a:srgbClr val="7F7F7F"/>
            </a:solidFill>
            <a:miter lim="800000"/>
          </a:ln>
        </p:spPr>
      </p:pic>
    </p:spTree>
    <p:extLst>
      <p:ext uri="{BB962C8B-B14F-4D97-AF65-F5344CB8AC3E}">
        <p14:creationId xmlns:p14="http://schemas.microsoft.com/office/powerpoint/2010/main" val="3885862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A55008-CCEB-54B0-1B2D-903949EA7508}"/>
              </a:ext>
            </a:extLst>
          </p:cNvPr>
          <p:cNvSpPr>
            <a:spLocks noGrp="1"/>
          </p:cNvSpPr>
          <p:nvPr>
            <p:ph type="title"/>
          </p:nvPr>
        </p:nvSpPr>
        <p:spPr/>
        <p:txBody>
          <a:bodyPr>
            <a:normAutofit/>
          </a:bodyPr>
          <a:lstStyle/>
          <a:p>
            <a:r>
              <a:rPr lang="zh-TW">
                <a:solidFill>
                  <a:srgbClr val="262626"/>
                </a:solidFill>
                <a:ea typeface="+mj-lt"/>
                <a:cs typeface="+mj-lt"/>
              </a:rPr>
              <a:t>Elderly-friendly function</a:t>
            </a:r>
            <a:endParaRPr lang="zh-TW"/>
          </a:p>
        </p:txBody>
      </p:sp>
      <p:sp>
        <p:nvSpPr>
          <p:cNvPr id="3" name="內容版面配置區 2">
            <a:extLst>
              <a:ext uri="{FF2B5EF4-FFF2-40B4-BE49-F238E27FC236}">
                <a16:creationId xmlns:a16="http://schemas.microsoft.com/office/drawing/2014/main" id="{F281410A-9E89-D684-F722-43B35BF47E50}"/>
              </a:ext>
            </a:extLst>
          </p:cNvPr>
          <p:cNvSpPr>
            <a:spLocks noGrp="1"/>
          </p:cNvSpPr>
          <p:nvPr>
            <p:ph idx="1"/>
          </p:nvPr>
        </p:nvSpPr>
        <p:spPr/>
        <p:txBody>
          <a:bodyPr>
            <a:normAutofit fontScale="92500" lnSpcReduction="20000"/>
          </a:bodyPr>
          <a:lstStyle/>
          <a:p>
            <a:r>
              <a:rPr lang="en-US" altLang="zh-TW" sz="2000" dirty="0">
                <a:solidFill>
                  <a:srgbClr val="000000"/>
                </a:solidFill>
                <a:highlight>
                  <a:srgbClr val="FFFFFF"/>
                </a:highlight>
                <a:latin typeface="Times New Roman"/>
                <a:ea typeface="新細明體"/>
                <a:cs typeface="Times New Roman"/>
              </a:rPr>
              <a:t>The target people of this project are the elderly. So the project has achieved a lot of elderly-friendly functions.</a:t>
            </a:r>
          </a:p>
          <a:p>
            <a:pPr>
              <a:buSzPct val="114999"/>
            </a:pPr>
            <a:r>
              <a:rPr lang="en-US" sz="2000">
                <a:solidFill>
                  <a:srgbClr val="000000"/>
                </a:solidFill>
                <a:highlight>
                  <a:srgbClr val="FFFFFF"/>
                </a:highlight>
                <a:ea typeface="+mn-lt"/>
                <a:cs typeface="+mn-lt"/>
              </a:rPr>
              <a:t>Dynamic Font Scaling System </a:t>
            </a:r>
            <a:endParaRPr lang="en-US" altLang="zh-TW" sz="2000" dirty="0">
              <a:solidFill>
                <a:srgbClr val="000000"/>
              </a:solidFill>
              <a:highlight>
                <a:srgbClr val="FFFFFF"/>
              </a:highlight>
              <a:ea typeface="+mn-lt"/>
              <a:cs typeface="+mn-lt"/>
            </a:endParaRPr>
          </a:p>
          <a:p>
            <a:pPr>
              <a:buSzPct val="114999"/>
            </a:pPr>
            <a:r>
              <a:rPr lang="en-US" sz="2000">
                <a:solidFill>
                  <a:srgbClr val="000000"/>
                </a:solidFill>
                <a:highlight>
                  <a:srgbClr val="FFFFFF"/>
                </a:highlight>
                <a:ea typeface="+mn-lt"/>
                <a:cs typeface="+mn-lt"/>
              </a:rPr>
              <a:t>The Canvas and Scrollbar mechanism </a:t>
            </a:r>
            <a:endParaRPr lang="en-US">
              <a:ea typeface="+mn-lt"/>
              <a:cs typeface="+mn-lt"/>
            </a:endParaRPr>
          </a:p>
          <a:p>
            <a:pPr>
              <a:buSzPct val="114999"/>
            </a:pPr>
            <a:r>
              <a:rPr lang="en-US" sz="2000">
                <a:solidFill>
                  <a:srgbClr val="000000"/>
                </a:solidFill>
                <a:highlight>
                  <a:srgbClr val="FFFFFF"/>
                </a:highlight>
                <a:ea typeface="+mn-lt"/>
                <a:cs typeface="+mn-lt"/>
              </a:rPr>
              <a:t>Cantonese Audio Reading (Edge-TTS Integration) </a:t>
            </a:r>
            <a:endParaRPr lang="en-US">
              <a:ea typeface="+mn-lt"/>
              <a:cs typeface="+mn-lt"/>
            </a:endParaRPr>
          </a:p>
          <a:p>
            <a:pPr>
              <a:buSzPct val="114999"/>
            </a:pPr>
            <a:r>
              <a:rPr lang="en-US" sz="2000" dirty="0">
                <a:solidFill>
                  <a:srgbClr val="000000"/>
                </a:solidFill>
                <a:highlight>
                  <a:srgbClr val="FFFFFF"/>
                </a:highlight>
                <a:ea typeface="+mn-lt"/>
                <a:cs typeface="+mn-lt"/>
              </a:rPr>
              <a:t>Voice Command Input (Speech Recognition, </a:t>
            </a:r>
            <a:r>
              <a:rPr lang="en-US" sz="2000" dirty="0" err="1">
                <a:solidFill>
                  <a:srgbClr val="000000"/>
                </a:solidFill>
                <a:highlight>
                  <a:srgbClr val="FFFFFF"/>
                </a:highlight>
                <a:ea typeface="+mn-lt"/>
                <a:cs typeface="+mn-lt"/>
              </a:rPr>
              <a:t>語音控制</a:t>
            </a:r>
            <a:r>
              <a:rPr lang="en-US" sz="2000" dirty="0">
                <a:solidFill>
                  <a:srgbClr val="000000"/>
                </a:solidFill>
                <a:highlight>
                  <a:srgbClr val="FFFFFF"/>
                </a:highlight>
                <a:ea typeface="+mn-lt"/>
                <a:cs typeface="+mn-lt"/>
              </a:rPr>
              <a:t>) </a:t>
            </a:r>
            <a:endParaRPr lang="en-US" dirty="0">
              <a:ea typeface="+mn-lt"/>
              <a:cs typeface="+mn-lt"/>
            </a:endParaRPr>
          </a:p>
          <a:p>
            <a:pPr>
              <a:buSzPct val="114999"/>
            </a:pPr>
            <a:r>
              <a:rPr lang="en-US" sz="2000">
                <a:solidFill>
                  <a:srgbClr val="000000"/>
                </a:solidFill>
                <a:highlight>
                  <a:srgbClr val="FFFFFF"/>
                </a:highlight>
                <a:ea typeface="+mn-lt"/>
                <a:cs typeface="+mn-lt"/>
              </a:rPr>
              <a:t>Heartwarming AI Script Generation (Gemini AI Engine) </a:t>
            </a:r>
            <a:endParaRPr lang="en-US">
              <a:ea typeface="+mn-lt"/>
              <a:cs typeface="+mn-lt"/>
            </a:endParaRPr>
          </a:p>
          <a:p>
            <a:pPr>
              <a:buSzPct val="114999"/>
            </a:pPr>
            <a:r>
              <a:rPr lang="en-US" sz="2000" dirty="0">
                <a:solidFill>
                  <a:srgbClr val="000000"/>
                </a:solidFill>
                <a:highlight>
                  <a:srgbClr val="FFFFFF"/>
                </a:highlight>
                <a:ea typeface="+mn-lt"/>
                <a:cs typeface="+mn-lt"/>
              </a:rPr>
              <a:t>Time travel(</a:t>
            </a:r>
            <a:r>
              <a:rPr lang="en-US" sz="2000" dirty="0" err="1">
                <a:solidFill>
                  <a:srgbClr val="000000"/>
                </a:solidFill>
                <a:highlight>
                  <a:srgbClr val="FFFFFF"/>
                </a:highlight>
                <a:ea typeface="+mn-lt"/>
                <a:cs typeface="+mn-lt"/>
              </a:rPr>
              <a:t>時光倒流</a:t>
            </a:r>
            <a:r>
              <a:rPr lang="en-US" sz="2000" dirty="0">
                <a:solidFill>
                  <a:srgbClr val="000000"/>
                </a:solidFill>
                <a:highlight>
                  <a:srgbClr val="FFFFFF"/>
                </a:highlight>
                <a:ea typeface="+mn-lt"/>
                <a:cs typeface="+mn-lt"/>
              </a:rPr>
              <a:t>) and History(</a:t>
            </a:r>
            <a:r>
              <a:rPr lang="en-US" sz="2000" dirty="0" err="1">
                <a:solidFill>
                  <a:srgbClr val="000000"/>
                </a:solidFill>
                <a:highlight>
                  <a:srgbClr val="FFFFFF"/>
                </a:highlight>
                <a:ea typeface="+mn-lt"/>
                <a:cs typeface="+mn-lt"/>
              </a:rPr>
              <a:t>查閱往事</a:t>
            </a:r>
            <a:r>
              <a:rPr lang="en-US" sz="2000" dirty="0">
                <a:solidFill>
                  <a:srgbClr val="000000"/>
                </a:solidFill>
                <a:highlight>
                  <a:srgbClr val="FFFFFF"/>
                </a:highlight>
                <a:ea typeface="+mn-lt"/>
                <a:cs typeface="+mn-lt"/>
              </a:rPr>
              <a:t>) </a:t>
            </a:r>
            <a:endParaRPr lang="en-US" dirty="0">
              <a:ea typeface="+mn-lt"/>
              <a:cs typeface="+mn-lt"/>
            </a:endParaRPr>
          </a:p>
          <a:p>
            <a:pPr>
              <a:buSzPct val="114999"/>
            </a:pPr>
            <a:r>
              <a:rPr lang="en-US" sz="2000">
                <a:solidFill>
                  <a:srgbClr val="000000"/>
                </a:solidFill>
                <a:highlight>
                  <a:srgbClr val="FFFFFF"/>
                </a:highlight>
                <a:ea typeface="+mn-lt"/>
                <a:cs typeface="+mn-lt"/>
              </a:rPr>
              <a:t>Simplified save and script Management </a:t>
            </a:r>
            <a:endParaRPr lang="en-US">
              <a:ea typeface="+mn-lt"/>
              <a:cs typeface="+mn-lt"/>
            </a:endParaRPr>
          </a:p>
          <a:p>
            <a:pPr>
              <a:buSzPct val="114999"/>
            </a:pPr>
            <a:endParaRPr lang="en-US" altLang="zh-TW" sz="3000" dirty="0">
              <a:solidFill>
                <a:srgbClr val="000000"/>
              </a:solidFill>
              <a:highlight>
                <a:srgbClr val="FFFFFF"/>
              </a:highlight>
              <a:latin typeface="Times New Roman"/>
              <a:ea typeface="新細明體"/>
              <a:cs typeface="Times New Roman"/>
            </a:endParaRPr>
          </a:p>
        </p:txBody>
      </p:sp>
    </p:spTree>
    <p:extLst>
      <p:ext uri="{BB962C8B-B14F-4D97-AF65-F5344CB8AC3E}">
        <p14:creationId xmlns:p14="http://schemas.microsoft.com/office/powerpoint/2010/main" val="3087423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89B080-3300-1633-1533-C3C9D86AC9A2}"/>
              </a:ext>
            </a:extLst>
          </p:cNvPr>
          <p:cNvSpPr>
            <a:spLocks noGrp="1"/>
          </p:cNvSpPr>
          <p:nvPr>
            <p:ph type="title"/>
          </p:nvPr>
        </p:nvSpPr>
        <p:spPr/>
        <p:txBody>
          <a:bodyPr/>
          <a:lstStyle/>
          <a:p>
            <a:r>
              <a:rPr lang="zh-TW">
                <a:ea typeface="+mj-lt"/>
                <a:cs typeface="+mj-lt"/>
              </a:rPr>
              <a:t>Dynamic Font Scaling System </a:t>
            </a:r>
            <a:endParaRPr lang="zh-TW"/>
          </a:p>
        </p:txBody>
      </p:sp>
      <p:sp>
        <p:nvSpPr>
          <p:cNvPr id="3" name="內容版面配置區 2">
            <a:extLst>
              <a:ext uri="{FF2B5EF4-FFF2-40B4-BE49-F238E27FC236}">
                <a16:creationId xmlns:a16="http://schemas.microsoft.com/office/drawing/2014/main" id="{99F2A3B6-2853-7F2D-C1FC-FAE2E70E6C78}"/>
              </a:ext>
            </a:extLst>
          </p:cNvPr>
          <p:cNvSpPr>
            <a:spLocks noGrp="1"/>
          </p:cNvSpPr>
          <p:nvPr>
            <p:ph idx="1"/>
          </p:nvPr>
        </p:nvSpPr>
        <p:spPr/>
        <p:txBody>
          <a:bodyPr/>
          <a:lstStyle/>
          <a:p>
            <a:r>
              <a:rPr lang="en-US">
                <a:ea typeface="+mn-lt"/>
                <a:cs typeface="+mn-lt"/>
              </a:rPr>
              <a:t>The</a:t>
            </a:r>
            <a:r>
              <a:rPr lang="zh-TW" dirty="0">
                <a:ea typeface="+mn-lt"/>
                <a:cs typeface="+mn-lt"/>
              </a:rPr>
              <a:t> </a:t>
            </a:r>
            <a:r>
              <a:rPr lang="en-US">
                <a:ea typeface="+mn-lt"/>
                <a:cs typeface="+mn-lt"/>
              </a:rPr>
              <a:t>elderly</a:t>
            </a:r>
            <a:r>
              <a:rPr lang="zh-TW" dirty="0">
                <a:ea typeface="+mn-lt"/>
                <a:cs typeface="+mn-lt"/>
              </a:rPr>
              <a:t> </a:t>
            </a:r>
            <a:r>
              <a:rPr lang="en-US">
                <a:ea typeface="+mn-lt"/>
                <a:cs typeface="+mn-lt"/>
              </a:rPr>
              <a:t>c</a:t>
            </a:r>
            <a:r>
              <a:rPr lang="en-US" altLang="zh-TW">
                <a:ea typeface="+mn-lt"/>
                <a:cs typeface="+mn-lt"/>
              </a:rPr>
              <a:t>an</a:t>
            </a:r>
            <a:r>
              <a:rPr lang="zh-TW" dirty="0">
                <a:ea typeface="+mn-lt"/>
                <a:cs typeface="+mn-lt"/>
              </a:rPr>
              <a:t> </a:t>
            </a:r>
            <a:r>
              <a:rPr lang="en-US" altLang="zh-TW">
                <a:ea typeface="+mn-lt"/>
                <a:cs typeface="+mn-lt"/>
              </a:rPr>
              <a:t>adjust</a:t>
            </a:r>
            <a:r>
              <a:rPr lang="zh-TW" dirty="0">
                <a:ea typeface="+mn-lt"/>
                <a:cs typeface="+mn-lt"/>
              </a:rPr>
              <a:t> </a:t>
            </a:r>
            <a:r>
              <a:rPr lang="en-US" altLang="zh-TW">
                <a:ea typeface="+mn-lt"/>
                <a:cs typeface="+mn-lt"/>
              </a:rPr>
              <a:t>the</a:t>
            </a:r>
            <a:r>
              <a:rPr lang="zh-TW" dirty="0">
                <a:ea typeface="+mn-lt"/>
                <a:cs typeface="+mn-lt"/>
              </a:rPr>
              <a:t> </a:t>
            </a:r>
            <a:r>
              <a:rPr lang="en-US" altLang="zh-TW">
                <a:ea typeface="+mn-lt"/>
                <a:cs typeface="+mn-lt"/>
              </a:rPr>
              <a:t>font</a:t>
            </a:r>
            <a:r>
              <a:rPr lang="zh-TW" dirty="0">
                <a:ea typeface="+mn-lt"/>
                <a:cs typeface="+mn-lt"/>
              </a:rPr>
              <a:t> </a:t>
            </a:r>
            <a:r>
              <a:rPr lang="en-US" altLang="zh-TW">
                <a:ea typeface="+mn-lt"/>
                <a:cs typeface="+mn-lt"/>
              </a:rPr>
              <a:t>t</a:t>
            </a:r>
            <a:r>
              <a:rPr lang="en-US">
                <a:ea typeface="+mn-lt"/>
                <a:cs typeface="+mn-lt"/>
              </a:rPr>
              <a:t>o</a:t>
            </a:r>
            <a:r>
              <a:rPr lang="zh-TW" dirty="0">
                <a:ea typeface="+mn-lt"/>
                <a:cs typeface="+mn-lt"/>
              </a:rPr>
              <a:t> </a:t>
            </a:r>
            <a:r>
              <a:rPr lang="en-US">
                <a:ea typeface="+mn-lt"/>
                <a:cs typeface="+mn-lt"/>
              </a:rPr>
              <a:t>t</a:t>
            </a:r>
            <a:r>
              <a:rPr lang="en-US" altLang="zh-TW">
                <a:ea typeface="+mn-lt"/>
                <a:cs typeface="+mn-lt"/>
              </a:rPr>
              <a:t>he</a:t>
            </a:r>
            <a:r>
              <a:rPr lang="zh-TW" dirty="0">
                <a:ea typeface="+mn-lt"/>
                <a:cs typeface="+mn-lt"/>
              </a:rPr>
              <a:t> </a:t>
            </a:r>
            <a:r>
              <a:rPr lang="en-US">
                <a:ea typeface="+mn-lt"/>
                <a:cs typeface="+mn-lt"/>
              </a:rPr>
              <a:t>most</a:t>
            </a:r>
            <a:r>
              <a:rPr lang="zh-TW" dirty="0">
                <a:ea typeface="+mn-lt"/>
                <a:cs typeface="+mn-lt"/>
              </a:rPr>
              <a:t> </a:t>
            </a:r>
            <a:r>
              <a:rPr lang="en-US">
                <a:ea typeface="+mn-lt"/>
                <a:cs typeface="+mn-lt"/>
              </a:rPr>
              <a:t>comfortab</a:t>
            </a:r>
            <a:r>
              <a:rPr lang="en-US" altLang="zh-TW">
                <a:ea typeface="+mn-lt"/>
                <a:cs typeface="+mn-lt"/>
              </a:rPr>
              <a:t>le</a:t>
            </a:r>
            <a:r>
              <a:rPr lang="zh-TW" dirty="0">
                <a:ea typeface="+mn-lt"/>
                <a:cs typeface="+mn-lt"/>
              </a:rPr>
              <a:t> </a:t>
            </a:r>
            <a:r>
              <a:rPr lang="en-US">
                <a:ea typeface="+mn-lt"/>
                <a:cs typeface="+mn-lt"/>
              </a:rPr>
              <a:t>size</a:t>
            </a:r>
            <a:r>
              <a:rPr lang="zh-TW" dirty="0">
                <a:ea typeface="+mn-lt"/>
                <a:cs typeface="+mn-lt"/>
              </a:rPr>
              <a:t> </a:t>
            </a:r>
            <a:r>
              <a:rPr lang="en-US" altLang="zh-TW">
                <a:ea typeface="+mn-lt"/>
                <a:cs typeface="+mn-lt"/>
              </a:rPr>
              <a:t>by</a:t>
            </a:r>
            <a:r>
              <a:rPr lang="zh-TW" dirty="0">
                <a:ea typeface="+mn-lt"/>
                <a:cs typeface="+mn-lt"/>
              </a:rPr>
              <a:t> </a:t>
            </a:r>
            <a:r>
              <a:rPr lang="en-US" altLang="zh-TW">
                <a:ea typeface="+mn-lt"/>
                <a:cs typeface="+mn-lt"/>
              </a:rPr>
              <a:t>click</a:t>
            </a:r>
            <a:r>
              <a:rPr lang="en-US">
                <a:ea typeface="+mn-lt"/>
                <a:cs typeface="+mn-lt"/>
              </a:rPr>
              <a:t>i</a:t>
            </a:r>
            <a:r>
              <a:rPr lang="en-US" altLang="zh-TW">
                <a:ea typeface="+mn-lt"/>
                <a:cs typeface="+mn-lt"/>
              </a:rPr>
              <a:t>n</a:t>
            </a:r>
            <a:r>
              <a:rPr lang="en-US">
                <a:ea typeface="+mn-lt"/>
                <a:cs typeface="+mn-lt"/>
              </a:rPr>
              <a:t>g</a:t>
            </a:r>
            <a:r>
              <a:rPr lang="zh-TW" dirty="0">
                <a:ea typeface="+mn-lt"/>
                <a:cs typeface="+mn-lt"/>
              </a:rPr>
              <a:t> </a:t>
            </a:r>
            <a:r>
              <a:rPr lang="en-US">
                <a:ea typeface="+mn-lt"/>
                <a:cs typeface="+mn-lt"/>
              </a:rPr>
              <a:t>th</a:t>
            </a:r>
            <a:r>
              <a:rPr lang="en-US" altLang="zh-TW">
                <a:ea typeface="+mn-lt"/>
                <a:cs typeface="+mn-lt"/>
              </a:rPr>
              <a:t>e</a:t>
            </a:r>
            <a:r>
              <a:rPr lang="zh-TW" dirty="0">
                <a:ea typeface="+mn-lt"/>
                <a:cs typeface="+mn-lt"/>
              </a:rPr>
              <a:t> </a:t>
            </a:r>
            <a:r>
              <a:rPr lang="en-US">
                <a:ea typeface="+mn-lt"/>
                <a:cs typeface="+mn-lt"/>
              </a:rPr>
              <a:t>"A+"</a:t>
            </a:r>
            <a:r>
              <a:rPr lang="zh-TW" dirty="0">
                <a:ea typeface="+mn-lt"/>
                <a:cs typeface="+mn-lt"/>
              </a:rPr>
              <a:t> </a:t>
            </a:r>
            <a:r>
              <a:rPr lang="en-US">
                <a:ea typeface="+mn-lt"/>
                <a:cs typeface="+mn-lt"/>
              </a:rPr>
              <a:t>or</a:t>
            </a:r>
            <a:r>
              <a:rPr lang="zh-TW" dirty="0">
                <a:ea typeface="+mn-lt"/>
                <a:cs typeface="+mn-lt"/>
              </a:rPr>
              <a:t> </a:t>
            </a:r>
            <a:r>
              <a:rPr lang="en-US">
                <a:ea typeface="+mn-lt"/>
                <a:cs typeface="+mn-lt"/>
              </a:rPr>
              <a:t>"A-"</a:t>
            </a:r>
            <a:r>
              <a:rPr lang="zh-TW" dirty="0">
                <a:ea typeface="+mn-lt"/>
                <a:cs typeface="+mn-lt"/>
              </a:rPr>
              <a:t> </a:t>
            </a:r>
            <a:r>
              <a:rPr lang="en-US" altLang="zh-TW">
                <a:ea typeface="+mn-lt"/>
                <a:cs typeface="+mn-lt"/>
              </a:rPr>
              <a:t>button</a:t>
            </a:r>
            <a:r>
              <a:rPr lang="en-US">
                <a:ea typeface="+mn-lt"/>
                <a:cs typeface="+mn-lt"/>
              </a:rPr>
              <a:t>s.</a:t>
            </a:r>
            <a:r>
              <a:rPr lang="zh-TW" dirty="0">
                <a:ea typeface="+mn-lt"/>
                <a:cs typeface="+mn-lt"/>
              </a:rPr>
              <a:t> </a:t>
            </a:r>
            <a:endParaRPr lang="en-US" dirty="0">
              <a:ea typeface="+mn-lt"/>
              <a:cs typeface="+mn-lt"/>
            </a:endParaRPr>
          </a:p>
          <a:p>
            <a:pPr>
              <a:buSzPct val="114999"/>
            </a:pPr>
            <a:r>
              <a:rPr lang="en-US" altLang="zh-TW">
                <a:ea typeface="+mn-lt"/>
                <a:cs typeface="+mn-lt"/>
              </a:rPr>
              <a:t>It</a:t>
            </a:r>
            <a:r>
              <a:rPr lang="zh-TW" altLang="en-US" dirty="0">
                <a:ea typeface="+mn-lt"/>
                <a:cs typeface="+mn-lt"/>
              </a:rPr>
              <a:t> </a:t>
            </a:r>
            <a:r>
              <a:rPr lang="en-US" altLang="zh-TW" dirty="0">
                <a:ea typeface="+mn-lt"/>
                <a:cs typeface="+mn-lt"/>
              </a:rPr>
              <a:t>solves</a:t>
            </a:r>
            <a:r>
              <a:rPr lang="zh-TW" altLang="en-US" dirty="0">
                <a:ea typeface="+mn-lt"/>
                <a:cs typeface="+mn-lt"/>
              </a:rPr>
              <a:t> </a:t>
            </a:r>
            <a:r>
              <a:rPr lang="en-US" altLang="zh-TW" dirty="0">
                <a:ea typeface="+mn-lt"/>
                <a:cs typeface="+mn-lt"/>
              </a:rPr>
              <a:t>common</a:t>
            </a:r>
            <a:r>
              <a:rPr lang="zh-TW" altLang="en-US" dirty="0">
                <a:ea typeface="+mn-lt"/>
                <a:cs typeface="+mn-lt"/>
              </a:rPr>
              <a:t> </a:t>
            </a:r>
            <a:r>
              <a:rPr lang="en-US" altLang="zh-TW" dirty="0">
                <a:ea typeface="+mn-lt"/>
                <a:cs typeface="+mn-lt"/>
              </a:rPr>
              <a:t>presbyopia</a:t>
            </a:r>
            <a:r>
              <a:rPr lang="zh-TW" altLang="en-US" dirty="0">
                <a:ea typeface="+mn-lt"/>
                <a:cs typeface="+mn-lt"/>
              </a:rPr>
              <a:t> </a:t>
            </a:r>
            <a:r>
              <a:rPr lang="en-US" altLang="zh-TW" dirty="0">
                <a:ea typeface="+mn-lt"/>
                <a:cs typeface="+mn-lt"/>
              </a:rPr>
              <a:t>or</a:t>
            </a:r>
            <a:r>
              <a:rPr lang="zh-TW" altLang="en-US" dirty="0">
                <a:ea typeface="+mn-lt"/>
                <a:cs typeface="+mn-lt"/>
              </a:rPr>
              <a:t> </a:t>
            </a:r>
            <a:r>
              <a:rPr lang="en-US" altLang="zh-TW" dirty="0">
                <a:ea typeface="+mn-lt"/>
                <a:cs typeface="+mn-lt"/>
              </a:rPr>
              <a:t>vision</a:t>
            </a:r>
            <a:r>
              <a:rPr lang="zh-TW" altLang="en-US" dirty="0">
                <a:ea typeface="+mn-lt"/>
                <a:cs typeface="+mn-lt"/>
              </a:rPr>
              <a:t> </a:t>
            </a:r>
            <a:r>
              <a:rPr lang="en-US" altLang="zh-TW" dirty="0">
                <a:ea typeface="+mn-lt"/>
                <a:cs typeface="+mn-lt"/>
              </a:rPr>
              <a:t>deterioration</a:t>
            </a:r>
            <a:r>
              <a:rPr lang="zh-TW" altLang="en-US" dirty="0">
                <a:ea typeface="+mn-lt"/>
                <a:cs typeface="+mn-lt"/>
              </a:rPr>
              <a:t> </a:t>
            </a:r>
            <a:r>
              <a:rPr lang="en-US" altLang="zh-TW" dirty="0">
                <a:ea typeface="+mn-lt"/>
                <a:cs typeface="+mn-lt"/>
              </a:rPr>
              <a:t>problems</a:t>
            </a:r>
            <a:r>
              <a:rPr lang="zh-TW" altLang="en-US" dirty="0">
                <a:ea typeface="+mn-lt"/>
                <a:cs typeface="+mn-lt"/>
              </a:rPr>
              <a:t> </a:t>
            </a:r>
            <a:r>
              <a:rPr lang="en-US" altLang="zh-TW" dirty="0">
                <a:ea typeface="+mn-lt"/>
                <a:cs typeface="+mn-lt"/>
              </a:rPr>
              <a:t>among</a:t>
            </a:r>
            <a:r>
              <a:rPr lang="zh-TW" altLang="en-US" dirty="0">
                <a:ea typeface="+mn-lt"/>
                <a:cs typeface="+mn-lt"/>
              </a:rPr>
              <a:t> </a:t>
            </a:r>
            <a:r>
              <a:rPr lang="en-US" altLang="zh-TW" dirty="0">
                <a:ea typeface="+mn-lt"/>
                <a:cs typeface="+mn-lt"/>
              </a:rPr>
              <a:t>the</a:t>
            </a:r>
            <a:r>
              <a:rPr lang="zh-TW" altLang="en-US" dirty="0">
                <a:ea typeface="+mn-lt"/>
                <a:cs typeface="+mn-lt"/>
              </a:rPr>
              <a:t> </a:t>
            </a:r>
            <a:r>
              <a:rPr lang="en-US" altLang="zh-TW">
                <a:ea typeface="+mn-lt"/>
                <a:cs typeface="+mn-lt"/>
              </a:rPr>
              <a:t>elderly.</a:t>
            </a:r>
            <a:r>
              <a:rPr lang="zh-TW" altLang="en-US" dirty="0">
                <a:ea typeface="+mn-lt"/>
                <a:cs typeface="+mn-lt"/>
              </a:rPr>
              <a:t> </a:t>
            </a:r>
            <a:endParaRPr lang="zh-TW" altLang="en-US">
              <a:ea typeface="新細明體"/>
            </a:endParaRPr>
          </a:p>
        </p:txBody>
      </p:sp>
      <p:pic>
        <p:nvPicPr>
          <p:cNvPr id="6" name="圖片 5" descr="一張含有 文字, 螢幕擷取畫面, 字型, 軟體 的圖片&#10;&#10;AI 產生的內容可能不正確。">
            <a:extLst>
              <a:ext uri="{FF2B5EF4-FFF2-40B4-BE49-F238E27FC236}">
                <a16:creationId xmlns:a16="http://schemas.microsoft.com/office/drawing/2014/main" id="{75EAE23F-5BC8-10C8-242D-02B22F195710}"/>
              </a:ext>
            </a:extLst>
          </p:cNvPr>
          <p:cNvPicPr>
            <a:picLocks noChangeAspect="1"/>
          </p:cNvPicPr>
          <p:nvPr/>
        </p:nvPicPr>
        <p:blipFill>
          <a:blip r:embed="rId2"/>
          <a:stretch>
            <a:fillRect/>
          </a:stretch>
        </p:blipFill>
        <p:spPr>
          <a:xfrm>
            <a:off x="1798529" y="4439172"/>
            <a:ext cx="8323545" cy="1758341"/>
          </a:xfrm>
          <a:prstGeom prst="rect">
            <a:avLst/>
          </a:prstGeom>
        </p:spPr>
      </p:pic>
    </p:spTree>
    <p:extLst>
      <p:ext uri="{BB962C8B-B14F-4D97-AF65-F5344CB8AC3E}">
        <p14:creationId xmlns:p14="http://schemas.microsoft.com/office/powerpoint/2010/main" val="787538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B6C6E9-8C74-AEF1-2F5F-6F2C94A485DD}"/>
              </a:ext>
            </a:extLst>
          </p:cNvPr>
          <p:cNvSpPr>
            <a:spLocks noGrp="1"/>
          </p:cNvSpPr>
          <p:nvPr>
            <p:ph type="title"/>
          </p:nvPr>
        </p:nvSpPr>
        <p:spPr/>
        <p:txBody>
          <a:bodyPr/>
          <a:lstStyle/>
          <a:p>
            <a:r>
              <a:rPr lang="zh-TW">
                <a:ea typeface="+mj-lt"/>
                <a:cs typeface="+mj-lt"/>
              </a:rPr>
              <a:t>The Canvas and Scrollbar mechanism</a:t>
            </a:r>
            <a:endParaRPr lang="zh-TW"/>
          </a:p>
        </p:txBody>
      </p:sp>
      <p:sp>
        <p:nvSpPr>
          <p:cNvPr id="3" name="內容版面配置區 2">
            <a:extLst>
              <a:ext uri="{FF2B5EF4-FFF2-40B4-BE49-F238E27FC236}">
                <a16:creationId xmlns:a16="http://schemas.microsoft.com/office/drawing/2014/main" id="{AD2A4145-D7D7-646D-3A11-865C6F4822FD}"/>
              </a:ext>
            </a:extLst>
          </p:cNvPr>
          <p:cNvSpPr>
            <a:spLocks noGrp="1"/>
          </p:cNvSpPr>
          <p:nvPr>
            <p:ph idx="1"/>
          </p:nvPr>
        </p:nvSpPr>
        <p:spPr/>
        <p:txBody>
          <a:bodyPr/>
          <a:lstStyle/>
          <a:p>
            <a:pPr>
              <a:buSzPct val="114999"/>
            </a:pPr>
            <a:r>
              <a:rPr lang="zh-TW">
                <a:ea typeface="+mn-lt"/>
                <a:cs typeface="+mn-lt"/>
              </a:rPr>
              <a:t>For match font scaling system, to avoid the text overlapping the windows.</a:t>
            </a:r>
          </a:p>
          <a:p>
            <a:pPr>
              <a:buSzPct val="114999"/>
            </a:pPr>
            <a:r>
              <a:rPr lang="en-US" altLang="zh-TW">
                <a:ea typeface="+mn-lt"/>
                <a:cs typeface="+mn-lt"/>
              </a:rPr>
              <a:t>The</a:t>
            </a:r>
            <a:r>
              <a:rPr lang="zh-TW" altLang="en-US" dirty="0">
                <a:ea typeface="+mn-lt"/>
                <a:cs typeface="+mn-lt"/>
              </a:rPr>
              <a:t> </a:t>
            </a:r>
            <a:r>
              <a:rPr lang="en-US" altLang="zh-TW">
                <a:ea typeface="+mn-lt"/>
                <a:cs typeface="+mn-lt"/>
              </a:rPr>
              <a:t>Canvas</a:t>
            </a:r>
            <a:r>
              <a:rPr lang="zh-TW" altLang="en-US" dirty="0">
                <a:ea typeface="+mn-lt"/>
                <a:cs typeface="+mn-lt"/>
              </a:rPr>
              <a:t> </a:t>
            </a:r>
            <a:r>
              <a:rPr lang="en-US" altLang="zh-TW">
                <a:ea typeface="+mn-lt"/>
                <a:cs typeface="+mn-lt"/>
              </a:rPr>
              <a:t>and</a:t>
            </a:r>
            <a:r>
              <a:rPr lang="zh-TW" altLang="en-US" dirty="0">
                <a:ea typeface="+mn-lt"/>
                <a:cs typeface="+mn-lt"/>
              </a:rPr>
              <a:t> </a:t>
            </a:r>
            <a:r>
              <a:rPr lang="en-US" altLang="zh-TW">
                <a:ea typeface="+mn-lt"/>
                <a:cs typeface="+mn-lt"/>
              </a:rPr>
              <a:t>Scrollbar</a:t>
            </a:r>
            <a:r>
              <a:rPr lang="zh-TW" altLang="en-US" dirty="0">
                <a:ea typeface="+mn-lt"/>
                <a:cs typeface="+mn-lt"/>
              </a:rPr>
              <a:t> </a:t>
            </a:r>
            <a:r>
              <a:rPr lang="en-US" altLang="zh-TW">
                <a:ea typeface="+mn-lt"/>
                <a:cs typeface="+mn-lt"/>
              </a:rPr>
              <a:t>mechanism</a:t>
            </a:r>
            <a:r>
              <a:rPr lang="zh-TW" altLang="en-US" dirty="0">
                <a:ea typeface="+mn-lt"/>
                <a:cs typeface="+mn-lt"/>
              </a:rPr>
              <a:t> </a:t>
            </a:r>
            <a:r>
              <a:rPr lang="en-US" altLang="zh-TW">
                <a:ea typeface="+mn-lt"/>
                <a:cs typeface="+mn-lt"/>
              </a:rPr>
              <a:t>allows</a:t>
            </a:r>
            <a:r>
              <a:rPr lang="zh-TW" altLang="en-US" dirty="0">
                <a:ea typeface="+mn-lt"/>
                <a:cs typeface="+mn-lt"/>
              </a:rPr>
              <a:t> </a:t>
            </a:r>
            <a:r>
              <a:rPr lang="en-US" altLang="zh-TW">
                <a:ea typeface="+mn-lt"/>
                <a:cs typeface="+mn-lt"/>
              </a:rPr>
              <a:t>users</a:t>
            </a:r>
            <a:r>
              <a:rPr lang="zh-TW" altLang="en-US" dirty="0">
                <a:ea typeface="+mn-lt"/>
                <a:cs typeface="+mn-lt"/>
              </a:rPr>
              <a:t> </a:t>
            </a:r>
            <a:r>
              <a:rPr lang="en-US" altLang="zh-TW">
                <a:ea typeface="+mn-lt"/>
                <a:cs typeface="+mn-lt"/>
              </a:rPr>
              <a:t>to</a:t>
            </a:r>
            <a:r>
              <a:rPr lang="zh-TW" altLang="en-US" dirty="0">
                <a:ea typeface="+mn-lt"/>
                <a:cs typeface="+mn-lt"/>
              </a:rPr>
              <a:t> </a:t>
            </a:r>
            <a:r>
              <a:rPr lang="en-US" altLang="zh-TW">
                <a:ea typeface="+mn-lt"/>
                <a:cs typeface="+mn-lt"/>
              </a:rPr>
              <a:t>view</a:t>
            </a:r>
            <a:r>
              <a:rPr lang="zh-TW" altLang="en-US" dirty="0">
                <a:ea typeface="+mn-lt"/>
                <a:cs typeface="+mn-lt"/>
              </a:rPr>
              <a:t> </a:t>
            </a:r>
            <a:r>
              <a:rPr lang="en-US" altLang="zh-TW">
                <a:ea typeface="+mn-lt"/>
                <a:cs typeface="+mn-lt"/>
              </a:rPr>
              <a:t>the</a:t>
            </a:r>
            <a:r>
              <a:rPr lang="zh-TW" altLang="en-US" dirty="0">
                <a:ea typeface="+mn-lt"/>
                <a:cs typeface="+mn-lt"/>
              </a:rPr>
              <a:t> </a:t>
            </a:r>
            <a:r>
              <a:rPr lang="en-US" altLang="zh-TW">
                <a:ea typeface="+mn-lt"/>
                <a:cs typeface="+mn-lt"/>
              </a:rPr>
              <a:t>full</a:t>
            </a:r>
            <a:r>
              <a:rPr lang="zh-TW" altLang="en-US" dirty="0">
                <a:ea typeface="+mn-lt"/>
                <a:cs typeface="+mn-lt"/>
              </a:rPr>
              <a:t> </a:t>
            </a:r>
            <a:r>
              <a:rPr lang="en-US" altLang="zh-TW">
                <a:ea typeface="+mn-lt"/>
                <a:cs typeface="+mn-lt"/>
              </a:rPr>
              <a:t>content</a:t>
            </a:r>
            <a:r>
              <a:rPr lang="zh-TW" altLang="en-US" dirty="0">
                <a:ea typeface="+mn-lt"/>
                <a:cs typeface="+mn-lt"/>
              </a:rPr>
              <a:t> </a:t>
            </a:r>
            <a:r>
              <a:rPr lang="en-US" altLang="zh-TW">
                <a:ea typeface="+mn-lt"/>
                <a:cs typeface="+mn-lt"/>
              </a:rPr>
              <a:t>via</a:t>
            </a:r>
            <a:r>
              <a:rPr lang="zh-TW" altLang="en-US" dirty="0">
                <a:ea typeface="+mn-lt"/>
                <a:cs typeface="+mn-lt"/>
              </a:rPr>
              <a:t> </a:t>
            </a:r>
            <a:r>
              <a:rPr lang="en-US" altLang="zh-TW">
                <a:ea typeface="+mn-lt"/>
                <a:cs typeface="+mn-lt"/>
              </a:rPr>
              <a:t>scrolling</a:t>
            </a:r>
            <a:r>
              <a:rPr lang="zh-TW" altLang="en-US" dirty="0">
                <a:ea typeface="+mn-lt"/>
                <a:cs typeface="+mn-lt"/>
              </a:rPr>
              <a:t> </a:t>
            </a:r>
            <a:r>
              <a:rPr lang="en-US" altLang="zh-TW">
                <a:ea typeface="+mn-lt"/>
                <a:cs typeface="+mn-lt"/>
              </a:rPr>
              <a:t>or</a:t>
            </a:r>
            <a:r>
              <a:rPr lang="zh-TW" altLang="en-US" dirty="0">
                <a:ea typeface="+mn-lt"/>
                <a:cs typeface="+mn-lt"/>
              </a:rPr>
              <a:t> </a:t>
            </a:r>
            <a:r>
              <a:rPr lang="en-US" altLang="zh-TW">
                <a:ea typeface="+mn-lt"/>
                <a:cs typeface="+mn-lt"/>
              </a:rPr>
              <a:t>the</a:t>
            </a:r>
            <a:r>
              <a:rPr lang="zh-TW" altLang="en-US" dirty="0">
                <a:ea typeface="+mn-lt"/>
                <a:cs typeface="+mn-lt"/>
              </a:rPr>
              <a:t> </a:t>
            </a:r>
            <a:r>
              <a:rPr lang="en-US" altLang="zh-TW">
                <a:ea typeface="+mn-lt"/>
                <a:cs typeface="+mn-lt"/>
              </a:rPr>
              <a:t>mouse</a:t>
            </a:r>
            <a:r>
              <a:rPr lang="zh-TW" altLang="en-US" dirty="0">
                <a:ea typeface="+mn-lt"/>
                <a:cs typeface="+mn-lt"/>
              </a:rPr>
              <a:t> </a:t>
            </a:r>
            <a:r>
              <a:rPr lang="en-US" altLang="zh-TW">
                <a:ea typeface="+mn-lt"/>
                <a:cs typeface="+mn-lt"/>
              </a:rPr>
              <a:t>wheel,</a:t>
            </a:r>
            <a:r>
              <a:rPr lang="zh-TW" altLang="en-US" dirty="0">
                <a:ea typeface="+mn-lt"/>
                <a:cs typeface="+mn-lt"/>
              </a:rPr>
              <a:t> </a:t>
            </a:r>
            <a:r>
              <a:rPr lang="en-US" altLang="zh-TW">
                <a:ea typeface="+mn-lt"/>
                <a:cs typeface="+mn-lt"/>
              </a:rPr>
              <a:t>regardless</a:t>
            </a:r>
            <a:r>
              <a:rPr lang="zh-TW" altLang="en-US" dirty="0">
                <a:ea typeface="+mn-lt"/>
                <a:cs typeface="+mn-lt"/>
              </a:rPr>
              <a:t> </a:t>
            </a:r>
            <a:r>
              <a:rPr lang="en-US" altLang="zh-TW">
                <a:ea typeface="+mn-lt"/>
                <a:cs typeface="+mn-lt"/>
              </a:rPr>
              <a:t>of</a:t>
            </a:r>
            <a:r>
              <a:rPr lang="zh-TW" altLang="en-US" dirty="0">
                <a:ea typeface="+mn-lt"/>
                <a:cs typeface="+mn-lt"/>
              </a:rPr>
              <a:t> </a:t>
            </a:r>
            <a:r>
              <a:rPr lang="en-US" altLang="zh-TW">
                <a:ea typeface="+mn-lt"/>
                <a:cs typeface="+mn-lt"/>
              </a:rPr>
              <a:t>the</a:t>
            </a:r>
            <a:r>
              <a:rPr lang="zh-TW" altLang="en-US" dirty="0">
                <a:ea typeface="+mn-lt"/>
                <a:cs typeface="+mn-lt"/>
              </a:rPr>
              <a:t> </a:t>
            </a:r>
            <a:r>
              <a:rPr lang="en-US" altLang="zh-TW">
                <a:ea typeface="+mn-lt"/>
                <a:cs typeface="+mn-lt"/>
              </a:rPr>
              <a:t>font</a:t>
            </a:r>
            <a:r>
              <a:rPr lang="zh-TW" altLang="en-US" dirty="0">
                <a:ea typeface="+mn-lt"/>
                <a:cs typeface="+mn-lt"/>
              </a:rPr>
              <a:t> </a:t>
            </a:r>
            <a:r>
              <a:rPr lang="en-US" altLang="zh-TW">
                <a:ea typeface="+mn-lt"/>
                <a:cs typeface="+mn-lt"/>
              </a:rPr>
              <a:t>size.</a:t>
            </a:r>
            <a:r>
              <a:rPr lang="zh-TW" altLang="en-US" dirty="0">
                <a:ea typeface="+mn-lt"/>
                <a:cs typeface="+mn-lt"/>
              </a:rPr>
              <a:t> </a:t>
            </a:r>
          </a:p>
          <a:p>
            <a:pPr>
              <a:buSzPct val="114999"/>
            </a:pPr>
            <a:r>
              <a:rPr lang="zh-TW">
                <a:ea typeface="+mn-lt"/>
                <a:cs typeface="+mn-lt"/>
              </a:rPr>
              <a:t>Scroll wheel support</a:t>
            </a:r>
            <a:endParaRPr lang="zh-TW" altLang="en-US" dirty="0">
              <a:ea typeface="新細明體"/>
            </a:endParaRPr>
          </a:p>
        </p:txBody>
      </p:sp>
      <p:pic>
        <p:nvPicPr>
          <p:cNvPr id="5" name="圖片 4" descr="一張含有 文字, 字型, 螢幕擷取畫面, 數字 的圖片&#10;&#10;AI 產生的內容可能不正確。">
            <a:extLst>
              <a:ext uri="{FF2B5EF4-FFF2-40B4-BE49-F238E27FC236}">
                <a16:creationId xmlns:a16="http://schemas.microsoft.com/office/drawing/2014/main" id="{68151571-EFF4-3D29-3D59-398BC669853D}"/>
              </a:ext>
            </a:extLst>
          </p:cNvPr>
          <p:cNvPicPr>
            <a:picLocks noChangeAspect="1"/>
          </p:cNvPicPr>
          <p:nvPr/>
        </p:nvPicPr>
        <p:blipFill>
          <a:blip r:embed="rId2"/>
          <a:stretch>
            <a:fillRect/>
          </a:stretch>
        </p:blipFill>
        <p:spPr>
          <a:xfrm>
            <a:off x="4596008" y="4215138"/>
            <a:ext cx="6820421" cy="2008078"/>
          </a:xfrm>
          <a:prstGeom prst="rect">
            <a:avLst/>
          </a:prstGeom>
        </p:spPr>
      </p:pic>
    </p:spTree>
    <p:extLst>
      <p:ext uri="{BB962C8B-B14F-4D97-AF65-F5344CB8AC3E}">
        <p14:creationId xmlns:p14="http://schemas.microsoft.com/office/powerpoint/2010/main" val="2534342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48A5B2-4D31-4931-7BEA-3F60E6A52C4D}"/>
              </a:ext>
            </a:extLst>
          </p:cNvPr>
          <p:cNvSpPr>
            <a:spLocks noGrp="1"/>
          </p:cNvSpPr>
          <p:nvPr>
            <p:ph type="title"/>
          </p:nvPr>
        </p:nvSpPr>
        <p:spPr/>
        <p:txBody>
          <a:bodyPr>
            <a:normAutofit/>
          </a:bodyPr>
          <a:lstStyle/>
          <a:p>
            <a:r>
              <a:rPr lang="zh-TW">
                <a:ea typeface="+mj-lt"/>
                <a:cs typeface="+mj-lt"/>
              </a:rPr>
              <a:t>Cantonese Audio Reading </a:t>
            </a:r>
            <a:endParaRPr lang="zh-TW"/>
          </a:p>
        </p:txBody>
      </p:sp>
      <p:sp>
        <p:nvSpPr>
          <p:cNvPr id="3" name="內容版面配置區 2">
            <a:extLst>
              <a:ext uri="{FF2B5EF4-FFF2-40B4-BE49-F238E27FC236}">
                <a16:creationId xmlns:a16="http://schemas.microsoft.com/office/drawing/2014/main" id="{3FC6D3B1-4D9C-A280-E8CC-09B222140824}"/>
              </a:ext>
            </a:extLst>
          </p:cNvPr>
          <p:cNvSpPr>
            <a:spLocks noGrp="1"/>
          </p:cNvSpPr>
          <p:nvPr>
            <p:ph idx="1"/>
          </p:nvPr>
        </p:nvSpPr>
        <p:spPr/>
        <p:txBody>
          <a:bodyPr/>
          <a:lstStyle/>
          <a:p>
            <a:r>
              <a:rPr lang="zh-TW">
                <a:ea typeface="+mn-lt"/>
                <a:cs typeface="+mn-lt"/>
              </a:rPr>
              <a:t>Target user is the Hong Kong local user</a:t>
            </a:r>
            <a:endParaRPr lang="zh-TW" altLang="en-US"/>
          </a:p>
          <a:p>
            <a:pPr>
              <a:buSzPct val="114999"/>
            </a:pPr>
            <a:r>
              <a:rPr lang="zh-TW">
                <a:ea typeface="+mn-lt"/>
                <a:cs typeface="+mn-lt"/>
              </a:rPr>
              <a:t>Hong Kong female voice (zh-HK-HiuGaaiNeural) was specifically chosen.</a:t>
            </a:r>
          </a:p>
          <a:p>
            <a:pPr>
              <a:buSzPct val="114999"/>
            </a:pPr>
            <a:r>
              <a:rPr lang="zh-TW">
                <a:ea typeface="+mn-lt"/>
                <a:cs typeface="+mn-lt"/>
              </a:rPr>
              <a:t>Elderly vision may be damaged</a:t>
            </a:r>
            <a:r>
              <a:rPr lang="en-US" altLang="zh-TW">
                <a:ea typeface="+mn-lt"/>
                <a:cs typeface="+mn-lt"/>
              </a:rPr>
              <a:t>,</a:t>
            </a:r>
            <a:r>
              <a:rPr lang="zh-TW" altLang="en-US" dirty="0">
                <a:ea typeface="+mn-lt"/>
                <a:cs typeface="+mn-lt"/>
              </a:rPr>
              <a:t> </a:t>
            </a:r>
            <a:r>
              <a:rPr lang="zh-TW">
                <a:ea typeface="+mn-lt"/>
                <a:cs typeface="+mn-lt"/>
              </a:rPr>
              <a:t>reading long texts difficult</a:t>
            </a:r>
          </a:p>
          <a:p>
            <a:pPr>
              <a:buSzPct val="114999"/>
            </a:pPr>
            <a:r>
              <a:rPr lang="en-US" altLang="zh-TW">
                <a:ea typeface="+mn-lt"/>
                <a:cs typeface="+mn-lt"/>
              </a:rPr>
              <a:t>R</a:t>
            </a:r>
            <a:r>
              <a:rPr lang="zh-TW">
                <a:ea typeface="+mn-lt"/>
                <a:cs typeface="+mn-lt"/>
              </a:rPr>
              <a:t>educes the time elderly people spend staring at the screen, alleviating eye strain</a:t>
            </a:r>
            <a:endParaRPr lang="zh-TW" altLang="en-US" dirty="0">
              <a:ea typeface="新細明體"/>
            </a:endParaRPr>
          </a:p>
        </p:txBody>
      </p:sp>
      <p:pic>
        <p:nvPicPr>
          <p:cNvPr id="4" name="圖片 3" descr="一張含有 文字, 字型, 標誌, 圖形 的圖片&#10;&#10;AI 產生的內容可能不正確。">
            <a:extLst>
              <a:ext uri="{FF2B5EF4-FFF2-40B4-BE49-F238E27FC236}">
                <a16:creationId xmlns:a16="http://schemas.microsoft.com/office/drawing/2014/main" id="{4C24D81B-4ABB-44E0-1D13-926038F03CCF}"/>
              </a:ext>
            </a:extLst>
          </p:cNvPr>
          <p:cNvPicPr>
            <a:picLocks noChangeAspect="1"/>
          </p:cNvPicPr>
          <p:nvPr/>
        </p:nvPicPr>
        <p:blipFill>
          <a:blip r:embed="rId2"/>
          <a:stretch>
            <a:fillRect/>
          </a:stretch>
        </p:blipFill>
        <p:spPr>
          <a:xfrm>
            <a:off x="2932329" y="4563650"/>
            <a:ext cx="5534025" cy="1676400"/>
          </a:xfrm>
          <a:prstGeom prst="rect">
            <a:avLst/>
          </a:prstGeom>
        </p:spPr>
      </p:pic>
    </p:spTree>
    <p:extLst>
      <p:ext uri="{BB962C8B-B14F-4D97-AF65-F5344CB8AC3E}">
        <p14:creationId xmlns:p14="http://schemas.microsoft.com/office/powerpoint/2010/main" val="4041005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A9782C-E186-C876-3C01-11B6F59B3C9A}"/>
              </a:ext>
            </a:extLst>
          </p:cNvPr>
          <p:cNvSpPr>
            <a:spLocks noGrp="1"/>
          </p:cNvSpPr>
          <p:nvPr>
            <p:ph type="title"/>
          </p:nvPr>
        </p:nvSpPr>
        <p:spPr/>
        <p:txBody>
          <a:bodyPr/>
          <a:lstStyle/>
          <a:p>
            <a:r>
              <a:rPr lang="zh-TW">
                <a:ea typeface="+mj-lt"/>
                <a:cs typeface="+mj-lt"/>
              </a:rPr>
              <a:t>Voice Command Input</a:t>
            </a:r>
            <a:endParaRPr lang="zh-TW"/>
          </a:p>
        </p:txBody>
      </p:sp>
      <p:sp>
        <p:nvSpPr>
          <p:cNvPr id="3" name="內容版面配置區 2">
            <a:extLst>
              <a:ext uri="{FF2B5EF4-FFF2-40B4-BE49-F238E27FC236}">
                <a16:creationId xmlns:a16="http://schemas.microsoft.com/office/drawing/2014/main" id="{807B69E4-8AB9-9205-CAA3-A4ED3B508B5C}"/>
              </a:ext>
            </a:extLst>
          </p:cNvPr>
          <p:cNvSpPr>
            <a:spLocks noGrp="1"/>
          </p:cNvSpPr>
          <p:nvPr>
            <p:ph idx="1"/>
          </p:nvPr>
        </p:nvSpPr>
        <p:spPr/>
        <p:txBody>
          <a:bodyPr>
            <a:normAutofit/>
          </a:bodyPr>
          <a:lstStyle/>
          <a:p>
            <a:r>
              <a:rPr lang="zh-TW">
                <a:ea typeface="+mn-lt"/>
                <a:cs typeface="+mn-lt"/>
              </a:rPr>
              <a:t>"Voice Control" bottom</a:t>
            </a:r>
            <a:r>
              <a:rPr lang="en-US" altLang="zh-TW">
                <a:ea typeface="+mn-lt"/>
                <a:cs typeface="+mn-lt"/>
              </a:rPr>
              <a:t>,</a:t>
            </a:r>
            <a:r>
              <a:rPr lang="zh-TW">
                <a:ea typeface="+mn-lt"/>
                <a:cs typeface="+mn-lt"/>
              </a:rPr>
              <a:t> the program listens to the microphone.</a:t>
            </a:r>
          </a:p>
          <a:p>
            <a:pPr>
              <a:buSzPct val="114999"/>
            </a:pPr>
            <a:r>
              <a:rPr lang="en-US" altLang="zh-TW">
                <a:ea typeface="+mn-lt"/>
                <a:cs typeface="+mn-lt"/>
              </a:rPr>
              <a:t>Speech</a:t>
            </a:r>
            <a:r>
              <a:rPr lang="zh-TW" altLang="en-US" dirty="0">
                <a:ea typeface="+mn-lt"/>
                <a:cs typeface="+mn-lt"/>
              </a:rPr>
              <a:t> </a:t>
            </a:r>
            <a:r>
              <a:rPr lang="en-US" altLang="zh-TW" dirty="0">
                <a:ea typeface="+mn-lt"/>
                <a:cs typeface="+mn-lt"/>
              </a:rPr>
              <a:t>to</a:t>
            </a:r>
            <a:r>
              <a:rPr lang="zh-TW" altLang="en-US" dirty="0">
                <a:ea typeface="+mn-lt"/>
                <a:cs typeface="+mn-lt"/>
              </a:rPr>
              <a:t> </a:t>
            </a:r>
            <a:r>
              <a:rPr lang="en-US" altLang="zh-TW" dirty="0">
                <a:ea typeface="+mn-lt"/>
                <a:cs typeface="+mn-lt"/>
              </a:rPr>
              <a:t>text</a:t>
            </a:r>
            <a:r>
              <a:rPr lang="zh-TW" altLang="en-US" dirty="0">
                <a:ea typeface="+mn-lt"/>
                <a:cs typeface="+mn-lt"/>
              </a:rPr>
              <a:t> </a:t>
            </a:r>
            <a:r>
              <a:rPr lang="en-US" altLang="zh-TW" dirty="0">
                <a:ea typeface="+mn-lt"/>
                <a:cs typeface="+mn-lt"/>
              </a:rPr>
              <a:t>using</a:t>
            </a:r>
            <a:r>
              <a:rPr lang="zh-TW" altLang="en-US" dirty="0">
                <a:ea typeface="+mn-lt"/>
                <a:cs typeface="+mn-lt"/>
              </a:rPr>
              <a:t> </a:t>
            </a:r>
            <a:r>
              <a:rPr lang="en-US" altLang="zh-TW" dirty="0">
                <a:ea typeface="+mn-lt"/>
                <a:cs typeface="+mn-lt"/>
              </a:rPr>
              <a:t>speech</a:t>
            </a:r>
            <a:r>
              <a:rPr lang="zh-TW" altLang="en-US" dirty="0">
                <a:ea typeface="+mn-lt"/>
                <a:cs typeface="+mn-lt"/>
              </a:rPr>
              <a:t> </a:t>
            </a:r>
            <a:r>
              <a:rPr lang="en-US" altLang="zh-TW" dirty="0">
                <a:ea typeface="+mn-lt"/>
                <a:cs typeface="+mn-lt"/>
              </a:rPr>
              <a:t>recognition</a:t>
            </a:r>
            <a:r>
              <a:rPr lang="zh-TW" altLang="en-US" dirty="0">
                <a:ea typeface="+mn-lt"/>
                <a:cs typeface="+mn-lt"/>
              </a:rPr>
              <a:t> </a:t>
            </a:r>
            <a:r>
              <a:rPr lang="en-US" altLang="zh-TW" dirty="0">
                <a:ea typeface="+mn-lt"/>
                <a:cs typeface="+mn-lt"/>
              </a:rPr>
              <a:t>and</a:t>
            </a:r>
            <a:r>
              <a:rPr lang="zh-TW" altLang="en-US" dirty="0">
                <a:ea typeface="+mn-lt"/>
                <a:cs typeface="+mn-lt"/>
              </a:rPr>
              <a:t> </a:t>
            </a:r>
            <a:r>
              <a:rPr lang="en-US" altLang="zh-TW" dirty="0">
                <a:ea typeface="+mn-lt"/>
                <a:cs typeface="+mn-lt"/>
              </a:rPr>
              <a:t>automatically</a:t>
            </a:r>
            <a:r>
              <a:rPr lang="zh-TW" altLang="en-US" dirty="0">
                <a:ea typeface="+mn-lt"/>
                <a:cs typeface="+mn-lt"/>
              </a:rPr>
              <a:t> </a:t>
            </a:r>
            <a:r>
              <a:rPr lang="en-US" altLang="zh-TW" dirty="0">
                <a:ea typeface="+mn-lt"/>
                <a:cs typeface="+mn-lt"/>
              </a:rPr>
              <a:t>matches</a:t>
            </a:r>
            <a:r>
              <a:rPr lang="zh-TW" altLang="en-US" dirty="0">
                <a:ea typeface="+mn-lt"/>
                <a:cs typeface="+mn-lt"/>
              </a:rPr>
              <a:t> </a:t>
            </a:r>
            <a:r>
              <a:rPr lang="en-US" altLang="zh-TW" dirty="0">
                <a:ea typeface="+mn-lt"/>
                <a:cs typeface="+mn-lt"/>
              </a:rPr>
              <a:t>options</a:t>
            </a:r>
            <a:r>
              <a:rPr lang="zh-TW" altLang="en-US" dirty="0">
                <a:ea typeface="+mn-lt"/>
                <a:cs typeface="+mn-lt"/>
              </a:rPr>
              <a:t> </a:t>
            </a:r>
            <a:r>
              <a:rPr lang="zh-TW">
                <a:ea typeface="+mn-lt"/>
                <a:cs typeface="+mn-lt"/>
              </a:rPr>
              <a:t>(such as saying "第一項" or "第二項")</a:t>
            </a:r>
            <a:r>
              <a:rPr lang="en-US" altLang="zh-TW">
                <a:ea typeface="+mn-lt"/>
                <a:cs typeface="+mn-lt"/>
              </a:rPr>
              <a:t>.</a:t>
            </a:r>
            <a:endParaRPr lang="zh-TW" altLang="en-US" dirty="0">
              <a:ea typeface="新細明體" panose="02020500000000000000" pitchFamily="18" charset="-120"/>
              <a:cs typeface="+mn-lt"/>
            </a:endParaRPr>
          </a:p>
          <a:p>
            <a:pPr>
              <a:buSzPct val="114999"/>
            </a:pPr>
            <a:r>
              <a:rPr lang="en-US">
                <a:ea typeface="+mn-lt"/>
                <a:cs typeface="+mn-lt"/>
              </a:rPr>
              <a:t>Hong Kong users, </a:t>
            </a:r>
            <a:r>
              <a:rPr lang="en-US" sz="2400">
                <a:ea typeface="+mn-lt"/>
                <a:cs typeface="+mn-lt"/>
              </a:rPr>
              <a:t>Cantonese as the input language. </a:t>
            </a:r>
            <a:endParaRPr lang="en-US" altLang="zh-TW" sz="2400">
              <a:ea typeface="新細明體"/>
            </a:endParaRPr>
          </a:p>
          <a:p>
            <a:pPr>
              <a:buSzPct val="114999"/>
            </a:pPr>
            <a:r>
              <a:rPr lang="en-US" dirty="0">
                <a:ea typeface="+mn-lt"/>
                <a:cs typeface="+mn-lt"/>
              </a:rPr>
              <a:t>Designed for seniors with arthritis or hand tremors who </a:t>
            </a:r>
            <a:endParaRPr lang="en-US" altLang="zh-TW" dirty="0">
              <a:ea typeface="新細明體"/>
              <a:cs typeface="+mn-lt"/>
            </a:endParaRPr>
          </a:p>
          <a:p>
            <a:pPr marL="0" indent="0">
              <a:buSzPct val="114999"/>
              <a:buNone/>
            </a:pPr>
            <a:r>
              <a:rPr lang="en-US" dirty="0">
                <a:ea typeface="+mn-lt"/>
                <a:cs typeface="+mn-lt"/>
              </a:rPr>
              <a:t> have difficulty accurately operating a mouse.</a:t>
            </a:r>
            <a:endParaRPr lang="en-US" altLang="zh-TW">
              <a:ea typeface="新細明體"/>
            </a:endParaRPr>
          </a:p>
          <a:p>
            <a:pPr>
              <a:buSzPct val="114999"/>
            </a:pPr>
            <a:endParaRPr lang="zh-TW" altLang="en-US" dirty="0">
              <a:ea typeface="新細明體" panose="02020500000000000000" pitchFamily="18" charset="-120"/>
            </a:endParaRPr>
          </a:p>
        </p:txBody>
      </p:sp>
      <p:pic>
        <p:nvPicPr>
          <p:cNvPr id="5" name="圖片 4" descr="一張含有 文字, 字型, 螢幕擷取畫面, 數字 的圖片&#10;&#10;AI 產生的內容可能不正確。">
            <a:extLst>
              <a:ext uri="{FF2B5EF4-FFF2-40B4-BE49-F238E27FC236}">
                <a16:creationId xmlns:a16="http://schemas.microsoft.com/office/drawing/2014/main" id="{3C799A1D-4419-F048-84E8-C89843500FFC}"/>
              </a:ext>
            </a:extLst>
          </p:cNvPr>
          <p:cNvPicPr>
            <a:picLocks noChangeAspect="1"/>
          </p:cNvPicPr>
          <p:nvPr/>
        </p:nvPicPr>
        <p:blipFill>
          <a:blip r:embed="rId2"/>
          <a:stretch>
            <a:fillRect/>
          </a:stretch>
        </p:blipFill>
        <p:spPr>
          <a:xfrm>
            <a:off x="9148045" y="3103193"/>
            <a:ext cx="2914650" cy="3219450"/>
          </a:xfrm>
          <a:prstGeom prst="rect">
            <a:avLst/>
          </a:prstGeom>
        </p:spPr>
      </p:pic>
    </p:spTree>
    <p:extLst>
      <p:ext uri="{BB962C8B-B14F-4D97-AF65-F5344CB8AC3E}">
        <p14:creationId xmlns:p14="http://schemas.microsoft.com/office/powerpoint/2010/main" val="3471856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7B962E-64C8-92C7-121E-5DBC91EE1379}"/>
              </a:ext>
            </a:extLst>
          </p:cNvPr>
          <p:cNvSpPr>
            <a:spLocks noGrp="1"/>
          </p:cNvSpPr>
          <p:nvPr>
            <p:ph type="title"/>
          </p:nvPr>
        </p:nvSpPr>
        <p:spPr/>
        <p:txBody>
          <a:bodyPr/>
          <a:lstStyle/>
          <a:p>
            <a:r>
              <a:rPr lang="zh-TW">
                <a:ea typeface="+mj-lt"/>
                <a:cs typeface="+mj-lt"/>
              </a:rPr>
              <a:t>Heartwarming AI Script Generation </a:t>
            </a:r>
            <a:endParaRPr lang="zh-TW"/>
          </a:p>
        </p:txBody>
      </p:sp>
      <p:sp>
        <p:nvSpPr>
          <p:cNvPr id="3" name="內容版面配置區 2">
            <a:extLst>
              <a:ext uri="{FF2B5EF4-FFF2-40B4-BE49-F238E27FC236}">
                <a16:creationId xmlns:a16="http://schemas.microsoft.com/office/drawing/2014/main" id="{F7063B33-8C2F-9B2E-9862-D0586F320458}"/>
              </a:ext>
            </a:extLst>
          </p:cNvPr>
          <p:cNvSpPr>
            <a:spLocks noGrp="1"/>
          </p:cNvSpPr>
          <p:nvPr>
            <p:ph idx="1"/>
          </p:nvPr>
        </p:nvSpPr>
        <p:spPr/>
        <p:txBody>
          <a:bodyPr/>
          <a:lstStyle/>
          <a:p>
            <a:r>
              <a:rPr lang="zh-TW">
                <a:ea typeface="+mn-lt"/>
                <a:cs typeface="+mn-lt"/>
              </a:rPr>
              <a:t>Generates a network narrative of 20 scenes using the Gemini API. </a:t>
            </a:r>
            <a:endParaRPr lang="zh-TW" altLang="en-US">
              <a:ea typeface="新細明體" panose="02020500000000000000" pitchFamily="18" charset="-120"/>
              <a:cs typeface="+mn-lt"/>
            </a:endParaRPr>
          </a:p>
          <a:p>
            <a:pPr>
              <a:buSzPct val="114999"/>
            </a:pPr>
            <a:r>
              <a:rPr lang="zh-TW">
                <a:ea typeface="+mn-lt"/>
                <a:cs typeface="+mn-lt"/>
              </a:rPr>
              <a:t>Prompts emphasize a "heartwarming writer" style and a "positive ending</a:t>
            </a:r>
          </a:p>
          <a:p>
            <a:pPr>
              <a:buSzPct val="114999"/>
            </a:pPr>
            <a:r>
              <a:rPr lang="en-US" altLang="zh-TW">
                <a:ea typeface="+mn-lt"/>
                <a:cs typeface="+mn-lt"/>
              </a:rPr>
              <a:t>Emotional</a:t>
            </a:r>
            <a:r>
              <a:rPr lang="zh-TW" altLang="en-US" dirty="0">
                <a:ea typeface="+mn-lt"/>
                <a:cs typeface="+mn-lt"/>
              </a:rPr>
              <a:t> </a:t>
            </a:r>
            <a:r>
              <a:rPr lang="en-US" altLang="zh-TW">
                <a:ea typeface="+mn-lt"/>
                <a:cs typeface="+mn-lt"/>
              </a:rPr>
              <a:t>support</a:t>
            </a:r>
            <a:r>
              <a:rPr lang="zh-TW" altLang="en-US" dirty="0">
                <a:ea typeface="+mn-lt"/>
                <a:cs typeface="+mn-lt"/>
              </a:rPr>
              <a:t> </a:t>
            </a:r>
            <a:r>
              <a:rPr lang="en-US" altLang="zh-TW">
                <a:ea typeface="+mn-lt"/>
                <a:cs typeface="+mn-lt"/>
              </a:rPr>
              <a:t>is</a:t>
            </a:r>
            <a:r>
              <a:rPr lang="zh-TW" altLang="en-US" dirty="0">
                <a:ea typeface="+mn-lt"/>
                <a:cs typeface="+mn-lt"/>
              </a:rPr>
              <a:t> </a:t>
            </a:r>
            <a:r>
              <a:rPr lang="en-US" altLang="zh-TW">
                <a:ea typeface="+mn-lt"/>
                <a:cs typeface="+mn-lt"/>
              </a:rPr>
              <a:t>crucial</a:t>
            </a:r>
            <a:r>
              <a:rPr lang="zh-TW" altLang="en-US" dirty="0">
                <a:ea typeface="+mn-lt"/>
                <a:cs typeface="+mn-lt"/>
              </a:rPr>
              <a:t> </a:t>
            </a:r>
            <a:r>
              <a:rPr lang="en-US" altLang="zh-TW">
                <a:ea typeface="+mn-lt"/>
                <a:cs typeface="+mn-lt"/>
              </a:rPr>
              <a:t>for</a:t>
            </a:r>
            <a:r>
              <a:rPr lang="zh-TW" altLang="en-US" dirty="0">
                <a:ea typeface="+mn-lt"/>
                <a:cs typeface="+mn-lt"/>
              </a:rPr>
              <a:t> </a:t>
            </a:r>
            <a:r>
              <a:rPr lang="en-US" altLang="zh-TW">
                <a:ea typeface="+mn-lt"/>
                <a:cs typeface="+mn-lt"/>
              </a:rPr>
              <a:t>seniors</a:t>
            </a:r>
          </a:p>
          <a:p>
            <a:pPr>
              <a:buSzPct val="114999"/>
            </a:pPr>
            <a:r>
              <a:rPr lang="en-US">
                <a:ea typeface="+mn-lt"/>
                <a:cs typeface="+mn-lt"/>
              </a:rPr>
              <a:t>Ensures the story is gentle, non-oppressive and logically simple</a:t>
            </a:r>
            <a:endParaRPr lang="en-US" altLang="zh-TW" dirty="0">
              <a:ea typeface="新細明體"/>
            </a:endParaRPr>
          </a:p>
        </p:txBody>
      </p:sp>
    </p:spTree>
    <p:extLst>
      <p:ext uri="{BB962C8B-B14F-4D97-AF65-F5344CB8AC3E}">
        <p14:creationId xmlns:p14="http://schemas.microsoft.com/office/powerpoint/2010/main" val="145750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474682-DBA9-E1F9-3092-6BC70FB14D32}"/>
              </a:ext>
            </a:extLst>
          </p:cNvPr>
          <p:cNvSpPr>
            <a:spLocks noGrp="1"/>
          </p:cNvSpPr>
          <p:nvPr>
            <p:ph type="title"/>
          </p:nvPr>
        </p:nvSpPr>
        <p:spPr/>
        <p:txBody>
          <a:bodyPr>
            <a:normAutofit fontScale="90000"/>
          </a:bodyPr>
          <a:lstStyle/>
          <a:p>
            <a:r>
              <a:rPr lang="zh-TW">
                <a:ea typeface="+mj-lt"/>
                <a:cs typeface="+mj-lt"/>
              </a:rPr>
              <a:t>Time travel</a:t>
            </a:r>
            <a:r>
              <a:rPr lang="en-US" altLang="zh-TW">
                <a:ea typeface="+mj-lt"/>
                <a:cs typeface="+mj-lt"/>
              </a:rPr>
              <a:t>(</a:t>
            </a:r>
            <a:r>
              <a:rPr lang="zh-TW" altLang="en-US">
                <a:ea typeface="+mj-lt"/>
                <a:cs typeface="+mj-lt"/>
              </a:rPr>
              <a:t>時光倒流</a:t>
            </a:r>
            <a:r>
              <a:rPr lang="en-US" altLang="zh-TW">
                <a:ea typeface="+mj-lt"/>
                <a:cs typeface="+mj-lt"/>
              </a:rPr>
              <a:t>)</a:t>
            </a:r>
            <a:r>
              <a:rPr lang="zh-TW">
                <a:ea typeface="+mj-lt"/>
                <a:cs typeface="+mj-lt"/>
              </a:rPr>
              <a:t> and History</a:t>
            </a:r>
            <a:r>
              <a:rPr lang="en-US" altLang="zh-TW">
                <a:ea typeface="+mj-lt"/>
                <a:cs typeface="+mj-lt"/>
              </a:rPr>
              <a:t>(</a:t>
            </a:r>
            <a:r>
              <a:rPr lang="zh-TW" altLang="en-US">
                <a:ea typeface="+mj-lt"/>
                <a:cs typeface="+mj-lt"/>
              </a:rPr>
              <a:t>查閱往事</a:t>
            </a:r>
            <a:r>
              <a:rPr lang="en-US" altLang="zh-TW">
                <a:ea typeface="+mj-lt"/>
                <a:cs typeface="+mj-lt"/>
              </a:rPr>
              <a:t>)</a:t>
            </a:r>
            <a:r>
              <a:rPr lang="zh-TW" altLang="en-US" dirty="0">
                <a:ea typeface="+mj-lt"/>
                <a:cs typeface="+mj-lt"/>
              </a:rPr>
              <a:t> </a:t>
            </a:r>
            <a:endParaRPr lang="zh-TW" dirty="0"/>
          </a:p>
        </p:txBody>
      </p:sp>
      <p:sp>
        <p:nvSpPr>
          <p:cNvPr id="3" name="內容版面配置區 2">
            <a:extLst>
              <a:ext uri="{FF2B5EF4-FFF2-40B4-BE49-F238E27FC236}">
                <a16:creationId xmlns:a16="http://schemas.microsoft.com/office/drawing/2014/main" id="{CC5FB19D-51A5-D02B-4667-90728980DF04}"/>
              </a:ext>
            </a:extLst>
          </p:cNvPr>
          <p:cNvSpPr>
            <a:spLocks noGrp="1"/>
          </p:cNvSpPr>
          <p:nvPr>
            <p:ph idx="1"/>
          </p:nvPr>
        </p:nvSpPr>
        <p:spPr/>
        <p:txBody>
          <a:bodyPr/>
          <a:lstStyle/>
          <a:p>
            <a:r>
              <a:rPr lang="zh-TW">
                <a:ea typeface="+mn-lt"/>
                <a:cs typeface="+mn-lt"/>
              </a:rPr>
              <a:t>`</a:t>
            </a:r>
            <a:r>
              <a:rPr lang="zh-TW" altLang="en-US">
                <a:ea typeface="+mn-lt"/>
                <a:cs typeface="+mn-lt"/>
              </a:rPr>
              <a:t>時光倒流</a:t>
            </a:r>
            <a:r>
              <a:rPr lang="zh-TW">
                <a:ea typeface="+mn-lt"/>
                <a:cs typeface="+mn-lt"/>
              </a:rPr>
              <a:t>` allows you to go back to the previous step. </a:t>
            </a:r>
            <a:endParaRPr lang="zh-TW" altLang="en-US">
              <a:ea typeface="新細明體" panose="02020500000000000000" pitchFamily="18" charset="-120"/>
              <a:cs typeface="+mn-lt"/>
            </a:endParaRPr>
          </a:p>
          <a:p>
            <a:pPr>
              <a:buSzPct val="114999"/>
            </a:pPr>
            <a:r>
              <a:rPr lang="zh-TW">
                <a:ea typeface="+mn-lt"/>
                <a:cs typeface="+mn-lt"/>
              </a:rPr>
              <a:t>`查</a:t>
            </a:r>
            <a:r>
              <a:rPr lang="zh-TW" altLang="en-US">
                <a:ea typeface="+mn-lt"/>
                <a:cs typeface="+mn-lt"/>
              </a:rPr>
              <a:t>閱往事</a:t>
            </a:r>
            <a:r>
              <a:rPr lang="zh-TW">
                <a:ea typeface="+mn-lt"/>
                <a:cs typeface="+mn-lt"/>
              </a:rPr>
              <a:t>` pops up a scrolling window displaying all past scene descriptions and choices. </a:t>
            </a:r>
          </a:p>
          <a:p>
            <a:pPr>
              <a:buSzPct val="114999"/>
            </a:pPr>
            <a:r>
              <a:rPr lang="en-US">
                <a:ea typeface="+mn-lt"/>
                <a:cs typeface="+mn-lt"/>
              </a:rPr>
              <a:t>Short-term</a:t>
            </a:r>
            <a:r>
              <a:rPr lang="en-US" altLang="zh-TW" dirty="0">
                <a:ea typeface="+mn-lt"/>
                <a:cs typeface="+mn-lt"/>
              </a:rPr>
              <a:t> </a:t>
            </a:r>
            <a:r>
              <a:rPr lang="en-US">
                <a:ea typeface="+mn-lt"/>
                <a:cs typeface="+mn-lt"/>
              </a:rPr>
              <a:t>memory</a:t>
            </a:r>
            <a:r>
              <a:rPr lang="en-US" altLang="zh-TW" dirty="0">
                <a:ea typeface="+mn-lt"/>
                <a:cs typeface="+mn-lt"/>
              </a:rPr>
              <a:t> </a:t>
            </a:r>
            <a:r>
              <a:rPr lang="en-US">
                <a:ea typeface="+mn-lt"/>
                <a:cs typeface="+mn-lt"/>
              </a:rPr>
              <a:t>decline</a:t>
            </a:r>
            <a:endParaRPr lang="zh-TW" altLang="en-US" dirty="0">
              <a:ea typeface="+mn-lt"/>
              <a:cs typeface="+mn-lt"/>
            </a:endParaRPr>
          </a:p>
          <a:p>
            <a:pPr>
              <a:buSzPct val="114999"/>
            </a:pPr>
            <a:r>
              <a:rPr lang="en-US" dirty="0">
                <a:ea typeface="+mn-lt"/>
                <a:cs typeface="+mn-lt"/>
              </a:rPr>
              <a:t>Forget previous events</a:t>
            </a:r>
          </a:p>
          <a:p>
            <a:pPr>
              <a:buSzPct val="114999"/>
            </a:pPr>
            <a:r>
              <a:rPr lang="en-US" dirty="0">
                <a:ea typeface="+mn-lt"/>
                <a:cs typeface="+mn-lt"/>
              </a:rPr>
              <a:t>Accidentally select the wrong option</a:t>
            </a:r>
          </a:p>
        </p:txBody>
      </p:sp>
      <p:pic>
        <p:nvPicPr>
          <p:cNvPr id="4" name="圖片 3" descr="一張含有 文字, 電子產品, 螢幕擷取畫面, 陳列 的圖片&#10;&#10;AI 產生的內容可能不正確。">
            <a:extLst>
              <a:ext uri="{FF2B5EF4-FFF2-40B4-BE49-F238E27FC236}">
                <a16:creationId xmlns:a16="http://schemas.microsoft.com/office/drawing/2014/main" id="{D46823D2-5D65-B6B2-E086-36F8FFD4C1C8}"/>
              </a:ext>
            </a:extLst>
          </p:cNvPr>
          <p:cNvPicPr>
            <a:picLocks noChangeAspect="1"/>
          </p:cNvPicPr>
          <p:nvPr/>
        </p:nvPicPr>
        <p:blipFill>
          <a:blip r:embed="rId2"/>
          <a:stretch>
            <a:fillRect/>
          </a:stretch>
        </p:blipFill>
        <p:spPr>
          <a:xfrm>
            <a:off x="6913322" y="3624848"/>
            <a:ext cx="5129410" cy="3324357"/>
          </a:xfrm>
          <a:prstGeom prst="rect">
            <a:avLst/>
          </a:prstGeom>
        </p:spPr>
      </p:pic>
    </p:spTree>
    <p:extLst>
      <p:ext uri="{BB962C8B-B14F-4D97-AF65-F5344CB8AC3E}">
        <p14:creationId xmlns:p14="http://schemas.microsoft.com/office/powerpoint/2010/main" val="2428594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91BA26-B85A-B854-4CD5-AF37D886522E}"/>
              </a:ext>
            </a:extLst>
          </p:cNvPr>
          <p:cNvSpPr>
            <a:spLocks noGrp="1"/>
          </p:cNvSpPr>
          <p:nvPr>
            <p:ph type="title"/>
          </p:nvPr>
        </p:nvSpPr>
        <p:spPr/>
        <p:txBody>
          <a:bodyPr/>
          <a:lstStyle/>
          <a:p>
            <a:r>
              <a:rPr lang="zh-TW">
                <a:ea typeface="+mj-lt"/>
                <a:cs typeface="+mj-lt"/>
              </a:rPr>
              <a:t>Simplified save and script Management </a:t>
            </a:r>
            <a:endParaRPr lang="zh-TW"/>
          </a:p>
        </p:txBody>
      </p:sp>
      <p:sp>
        <p:nvSpPr>
          <p:cNvPr id="3" name="內容版面配置區 2">
            <a:extLst>
              <a:ext uri="{FF2B5EF4-FFF2-40B4-BE49-F238E27FC236}">
                <a16:creationId xmlns:a16="http://schemas.microsoft.com/office/drawing/2014/main" id="{58B68547-010E-689D-854A-153123F07ECC}"/>
              </a:ext>
            </a:extLst>
          </p:cNvPr>
          <p:cNvSpPr>
            <a:spLocks noGrp="1"/>
          </p:cNvSpPr>
          <p:nvPr>
            <p:ph idx="1"/>
          </p:nvPr>
        </p:nvSpPr>
        <p:spPr/>
        <p:txBody>
          <a:bodyPr/>
          <a:lstStyle/>
          <a:p>
            <a:r>
              <a:rPr lang="zh-TW">
                <a:ea typeface="+mn-lt"/>
                <a:cs typeface="+mn-lt"/>
              </a:rPr>
              <a:t>Provides 4 visual save slot</a:t>
            </a:r>
            <a:endParaRPr lang="zh-TW" altLang="en-US">
              <a:ea typeface="新細明體" panose="02020500000000000000" pitchFamily="18" charset="-120"/>
              <a:cs typeface="+mn-lt"/>
            </a:endParaRPr>
          </a:p>
          <a:p>
            <a:pPr>
              <a:buSzPct val="114999"/>
            </a:pPr>
            <a:r>
              <a:rPr lang="zh-TW">
                <a:ea typeface="+mn-lt"/>
                <a:cs typeface="+mn-lt"/>
              </a:rPr>
              <a:t>Simplifies the complex file management</a:t>
            </a:r>
            <a:endParaRPr lang="zh-TW" dirty="0">
              <a:ea typeface="+mn-lt"/>
              <a:cs typeface="+mn-lt"/>
            </a:endParaRPr>
          </a:p>
        </p:txBody>
      </p:sp>
      <p:pic>
        <p:nvPicPr>
          <p:cNvPr id="4" name="圖片 3" descr="一張含有 文字, 字型, 螢幕擷取畫面, 名片 的圖片&#10;&#10;AI 產生的內容可能不正確。">
            <a:extLst>
              <a:ext uri="{FF2B5EF4-FFF2-40B4-BE49-F238E27FC236}">
                <a16:creationId xmlns:a16="http://schemas.microsoft.com/office/drawing/2014/main" id="{C96C544C-DEED-56B2-8D34-3CB8E3233E47}"/>
              </a:ext>
            </a:extLst>
          </p:cNvPr>
          <p:cNvPicPr>
            <a:picLocks noChangeAspect="1"/>
          </p:cNvPicPr>
          <p:nvPr/>
        </p:nvPicPr>
        <p:blipFill>
          <a:blip r:embed="rId2"/>
          <a:stretch>
            <a:fillRect/>
          </a:stretch>
        </p:blipFill>
        <p:spPr>
          <a:xfrm>
            <a:off x="7475493" y="5139151"/>
            <a:ext cx="4714875" cy="1828800"/>
          </a:xfrm>
          <a:prstGeom prst="rect">
            <a:avLst/>
          </a:prstGeom>
        </p:spPr>
      </p:pic>
    </p:spTree>
    <p:extLst>
      <p:ext uri="{BB962C8B-B14F-4D97-AF65-F5344CB8AC3E}">
        <p14:creationId xmlns:p14="http://schemas.microsoft.com/office/powerpoint/2010/main" val="427390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13CA4C-02DE-E6E6-DFE7-B3E55A7B9714}"/>
              </a:ext>
            </a:extLst>
          </p:cNvPr>
          <p:cNvSpPr>
            <a:spLocks noGrp="1"/>
          </p:cNvSpPr>
          <p:nvPr>
            <p:ph type="title"/>
          </p:nvPr>
        </p:nvSpPr>
        <p:spPr/>
        <p:txBody>
          <a:bodyPr>
            <a:normAutofit/>
          </a:bodyPr>
          <a:lstStyle/>
          <a:p>
            <a:r>
              <a:rPr lang="en-US" altLang="zh-TW" sz="4000" dirty="0">
                <a:solidFill>
                  <a:srgbClr val="000000"/>
                </a:solidFill>
                <a:highlight>
                  <a:srgbClr val="FFFFFF"/>
                </a:highlight>
                <a:latin typeface="Times New Roman"/>
                <a:ea typeface="+mj-lt"/>
                <a:cs typeface="Times New Roman"/>
              </a:rPr>
              <a:t>Program evaluation mechanism</a:t>
            </a:r>
            <a:endParaRPr lang="zh-TW" sz="4000" dirty="0">
              <a:solidFill>
                <a:srgbClr val="000000"/>
              </a:solidFill>
              <a:highlight>
                <a:srgbClr val="FFFFFF"/>
              </a:highlight>
              <a:latin typeface="Times New Roman"/>
              <a:cs typeface="Times New Roman"/>
            </a:endParaRPr>
          </a:p>
        </p:txBody>
      </p:sp>
      <p:sp>
        <p:nvSpPr>
          <p:cNvPr id="3" name="內容版面配置區 2">
            <a:extLst>
              <a:ext uri="{FF2B5EF4-FFF2-40B4-BE49-F238E27FC236}">
                <a16:creationId xmlns:a16="http://schemas.microsoft.com/office/drawing/2014/main" id="{29295B89-8886-23A3-001E-1484FFE088B6}"/>
              </a:ext>
            </a:extLst>
          </p:cNvPr>
          <p:cNvSpPr>
            <a:spLocks noGrp="1"/>
          </p:cNvSpPr>
          <p:nvPr>
            <p:ph idx="1"/>
          </p:nvPr>
        </p:nvSpPr>
        <p:spPr/>
        <p:txBody>
          <a:bodyPr>
            <a:normAutofit/>
          </a:bodyPr>
          <a:lstStyle/>
          <a:p>
            <a:r>
              <a:rPr lang="en-US" altLang="zh-TW" dirty="0">
                <a:solidFill>
                  <a:srgbClr val="000000"/>
                </a:solidFill>
                <a:latin typeface="Times New Roman"/>
                <a:ea typeface="+mn-lt"/>
                <a:cs typeface="Times New Roman"/>
              </a:rPr>
              <a:t>Using advanced LLMs GPT-4 and Qwen to draft these "gold standard" responses based on specific input.</a:t>
            </a:r>
          </a:p>
          <a:p>
            <a:pPr>
              <a:buSzPct val="114999"/>
            </a:pPr>
            <a:r>
              <a:rPr lang="en-US" dirty="0">
                <a:solidFill>
                  <a:srgbClr val="000000"/>
                </a:solidFill>
                <a:latin typeface="Times New Roman"/>
                <a:cs typeface="Times New Roman"/>
              </a:rPr>
              <a:t>Designing an exam: create specific questions (inputs) and an answer key (ground truth) to objectively test my system.</a:t>
            </a:r>
          </a:p>
          <a:p>
            <a:pPr>
              <a:buSzPct val="114999"/>
            </a:pPr>
            <a:r>
              <a:rPr lang="en-US" dirty="0">
                <a:solidFill>
                  <a:srgbClr val="000000"/>
                </a:solidFill>
                <a:latin typeface="Times New Roman"/>
                <a:ea typeface="+mn-lt"/>
                <a:cs typeface="+mn-lt"/>
              </a:rPr>
              <a:t>Use to a .</a:t>
            </a:r>
            <a:r>
              <a:rPr lang="en-US" dirty="0" err="1">
                <a:solidFill>
                  <a:srgbClr val="000000"/>
                </a:solidFill>
                <a:latin typeface="Times New Roman"/>
                <a:ea typeface="+mn-lt"/>
                <a:cs typeface="+mn-lt"/>
              </a:rPr>
              <a:t>jsonl</a:t>
            </a:r>
            <a:r>
              <a:rPr lang="en-US" dirty="0">
                <a:solidFill>
                  <a:srgbClr val="000000"/>
                </a:solidFill>
                <a:latin typeface="Times New Roman"/>
                <a:ea typeface="+mn-lt"/>
                <a:cs typeface="+mn-lt"/>
              </a:rPr>
              <a:t> file </a:t>
            </a:r>
            <a:r>
              <a:rPr lang="en-US" dirty="0" err="1">
                <a:solidFill>
                  <a:srgbClr val="000000"/>
                </a:solidFill>
                <a:latin typeface="Times New Roman"/>
                <a:ea typeface="+mn-lt"/>
                <a:cs typeface="+mn-lt"/>
              </a:rPr>
              <a:t>file</a:t>
            </a:r>
            <a:r>
              <a:rPr lang="en-US" dirty="0">
                <a:solidFill>
                  <a:srgbClr val="000000"/>
                </a:solidFill>
                <a:latin typeface="Times New Roman"/>
                <a:ea typeface="+mn-lt"/>
                <a:cs typeface="+mn-lt"/>
              </a:rPr>
              <a:t> to be my dataset</a:t>
            </a:r>
            <a:endParaRPr lang="en-US" dirty="0">
              <a:solidFill>
                <a:srgbClr val="000000"/>
              </a:solidFill>
              <a:latin typeface="Times New Roman"/>
              <a:cs typeface="Times New Roman"/>
            </a:endParaRPr>
          </a:p>
        </p:txBody>
      </p:sp>
      <p:pic>
        <p:nvPicPr>
          <p:cNvPr id="4" name="圖片 3" descr="一張含有 文字, 螢幕擷取畫面, 字型 的圖片&#10;&#10;AI 產生的內容可能不正確。">
            <a:extLst>
              <a:ext uri="{FF2B5EF4-FFF2-40B4-BE49-F238E27FC236}">
                <a16:creationId xmlns:a16="http://schemas.microsoft.com/office/drawing/2014/main" id="{24CD34E6-1D1B-1325-DEBB-62364C8AB601}"/>
              </a:ext>
            </a:extLst>
          </p:cNvPr>
          <p:cNvPicPr>
            <a:picLocks noChangeAspect="1"/>
          </p:cNvPicPr>
          <p:nvPr/>
        </p:nvPicPr>
        <p:blipFill>
          <a:blip r:embed="rId2"/>
          <a:stretch>
            <a:fillRect/>
          </a:stretch>
        </p:blipFill>
        <p:spPr>
          <a:xfrm>
            <a:off x="887829" y="4749323"/>
            <a:ext cx="10899301" cy="1930873"/>
          </a:xfrm>
          <a:prstGeom prst="rect">
            <a:avLst/>
          </a:prstGeom>
        </p:spPr>
      </p:pic>
    </p:spTree>
    <p:extLst>
      <p:ext uri="{BB962C8B-B14F-4D97-AF65-F5344CB8AC3E}">
        <p14:creationId xmlns:p14="http://schemas.microsoft.com/office/powerpoint/2010/main" val="3520158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5742A4-0835-CCC0-75E4-F8C89C606E64}"/>
              </a:ext>
            </a:extLst>
          </p:cNvPr>
          <p:cNvSpPr>
            <a:spLocks noGrp="1"/>
          </p:cNvSpPr>
          <p:nvPr>
            <p:ph type="title"/>
          </p:nvPr>
        </p:nvSpPr>
        <p:spPr/>
        <p:txBody>
          <a:bodyPr/>
          <a:lstStyle/>
          <a:p>
            <a:r>
              <a:rPr lang="zh-TW" altLang="en-US">
                <a:solidFill>
                  <a:srgbClr val="262626"/>
                </a:solidFill>
                <a:latin typeface="Garamond"/>
                <a:ea typeface="微軟正黑體"/>
                <a:cs typeface="Times New Roman"/>
              </a:rPr>
              <a:t>Result</a:t>
            </a:r>
            <a:endParaRPr lang="zh-TW" altLang="en-US">
              <a:ea typeface="微軟正黑體"/>
            </a:endParaRPr>
          </a:p>
        </p:txBody>
      </p:sp>
      <p:pic>
        <p:nvPicPr>
          <p:cNvPr id="4" name="內容版面配置區 3" descr="一張含有 文字, 螢幕擷取畫面, 圖表, 繪圖 的圖片&#10;&#10;AI 產生的內容可能不正確。">
            <a:extLst>
              <a:ext uri="{FF2B5EF4-FFF2-40B4-BE49-F238E27FC236}">
                <a16:creationId xmlns:a16="http://schemas.microsoft.com/office/drawing/2014/main" id="{75C7B4A7-75E5-9A6C-1B60-FED705EBC268}"/>
              </a:ext>
            </a:extLst>
          </p:cNvPr>
          <p:cNvPicPr>
            <a:picLocks noGrp="1" noChangeAspect="1"/>
          </p:cNvPicPr>
          <p:nvPr>
            <p:ph idx="1"/>
          </p:nvPr>
        </p:nvPicPr>
        <p:blipFill>
          <a:blip r:embed="rId2"/>
          <a:stretch>
            <a:fillRect/>
          </a:stretch>
        </p:blipFill>
        <p:spPr>
          <a:xfrm>
            <a:off x="2101557" y="1826248"/>
            <a:ext cx="7988882" cy="4780305"/>
          </a:xfrm>
          <a:prstGeom prst="rect">
            <a:avLst/>
          </a:prstGeom>
        </p:spPr>
      </p:pic>
    </p:spTree>
    <p:extLst>
      <p:ext uri="{BB962C8B-B14F-4D97-AF65-F5344CB8AC3E}">
        <p14:creationId xmlns:p14="http://schemas.microsoft.com/office/powerpoint/2010/main" val="108830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061E2E-D1A3-3B04-19AE-F6FC4EE8AC6F}"/>
              </a:ext>
            </a:extLst>
          </p:cNvPr>
          <p:cNvSpPr>
            <a:spLocks noGrp="1"/>
          </p:cNvSpPr>
          <p:nvPr>
            <p:ph type="title"/>
          </p:nvPr>
        </p:nvSpPr>
        <p:spPr/>
        <p:txBody>
          <a:bodyPr/>
          <a:lstStyle/>
          <a:p>
            <a:r>
              <a:rPr lang="zh-TW">
                <a:ea typeface="+mj-lt"/>
                <a:cs typeface="+mj-lt"/>
              </a:rPr>
              <a:t>Human Evaluation</a:t>
            </a:r>
            <a:endParaRPr lang="zh-TW"/>
          </a:p>
          <a:p>
            <a:endParaRPr lang="zh-TW" sz="1200">
              <a:highlight>
                <a:srgbClr val="FFFFFF"/>
              </a:highlight>
              <a:latin typeface="Times New Roman"/>
              <a:cs typeface="Times New Roman"/>
            </a:endParaRPr>
          </a:p>
        </p:txBody>
      </p:sp>
      <p:pic>
        <p:nvPicPr>
          <p:cNvPr id="4" name="內容版面配置區 3" descr="一張含有 文字, 螢幕擷取畫面, 數字, 字型 的圖片&#10;&#10;AI 產生的內容可能不正確。">
            <a:extLst>
              <a:ext uri="{FF2B5EF4-FFF2-40B4-BE49-F238E27FC236}">
                <a16:creationId xmlns:a16="http://schemas.microsoft.com/office/drawing/2014/main" id="{74DB088C-CE5E-D085-F117-E14EF9020624}"/>
              </a:ext>
            </a:extLst>
          </p:cNvPr>
          <p:cNvPicPr>
            <a:picLocks noGrp="1" noChangeAspect="1"/>
          </p:cNvPicPr>
          <p:nvPr>
            <p:ph idx="1"/>
          </p:nvPr>
        </p:nvPicPr>
        <p:blipFill>
          <a:blip r:embed="rId2"/>
          <a:stretch>
            <a:fillRect/>
          </a:stretch>
        </p:blipFill>
        <p:spPr>
          <a:xfrm>
            <a:off x="777139" y="2537867"/>
            <a:ext cx="10216913" cy="3425303"/>
          </a:xfrm>
          <a:prstGeom prst="rect">
            <a:avLst/>
          </a:prstGeom>
        </p:spPr>
      </p:pic>
    </p:spTree>
    <p:extLst>
      <p:ext uri="{BB962C8B-B14F-4D97-AF65-F5344CB8AC3E}">
        <p14:creationId xmlns:p14="http://schemas.microsoft.com/office/powerpoint/2010/main" val="1845578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1AB40D-8FE2-1E3D-B8EF-2F1DF00122D6}"/>
              </a:ext>
            </a:extLst>
          </p:cNvPr>
          <p:cNvSpPr>
            <a:spLocks noGrp="1"/>
          </p:cNvSpPr>
          <p:nvPr>
            <p:ph type="title"/>
          </p:nvPr>
        </p:nvSpPr>
        <p:spPr/>
        <p:txBody>
          <a:bodyPr>
            <a:normAutofit/>
          </a:bodyPr>
          <a:lstStyle/>
          <a:p>
            <a:r>
              <a:rPr lang="zh-TW" sz="4000">
                <a:solidFill>
                  <a:srgbClr val="000000"/>
                </a:solidFill>
                <a:highlight>
                  <a:srgbClr val="FFFFFF"/>
                </a:highlight>
                <a:latin typeface="Times New Roman"/>
                <a:ea typeface="微軟正黑體"/>
                <a:cs typeface="Times New Roman"/>
              </a:rPr>
              <a:t>Requirement</a:t>
            </a:r>
          </a:p>
        </p:txBody>
      </p:sp>
      <p:sp>
        <p:nvSpPr>
          <p:cNvPr id="3" name="內容版面配置區 2">
            <a:extLst>
              <a:ext uri="{FF2B5EF4-FFF2-40B4-BE49-F238E27FC236}">
                <a16:creationId xmlns:a16="http://schemas.microsoft.com/office/drawing/2014/main" id="{8E3ABB9B-8665-EA88-B438-796A009D4A4D}"/>
              </a:ext>
            </a:extLst>
          </p:cNvPr>
          <p:cNvSpPr>
            <a:spLocks noGrp="1"/>
          </p:cNvSpPr>
          <p:nvPr>
            <p:ph idx="1"/>
          </p:nvPr>
        </p:nvSpPr>
        <p:spPr/>
        <p:txBody>
          <a:bodyPr/>
          <a:lstStyle/>
          <a:p>
            <a:r>
              <a:rPr lang="en-US" altLang="zh-TW" dirty="0">
                <a:highlight>
                  <a:srgbClr val="FFFFFF"/>
                </a:highlight>
                <a:ea typeface="+mn-lt"/>
                <a:cs typeface="+mn-lt"/>
              </a:rPr>
              <a:t>Python</a:t>
            </a:r>
            <a:r>
              <a:rPr lang="zh-TW" altLang="en-US" dirty="0">
                <a:highlight>
                  <a:srgbClr val="FFFFFF"/>
                </a:highlight>
                <a:ea typeface="+mn-lt"/>
                <a:cs typeface="+mn-lt"/>
              </a:rPr>
              <a:t> </a:t>
            </a:r>
            <a:r>
              <a:rPr lang="en-US" altLang="zh-TW" dirty="0">
                <a:highlight>
                  <a:srgbClr val="FFFFFF"/>
                </a:highlight>
                <a:ea typeface="+mn-lt"/>
                <a:cs typeface="+mn-lt"/>
              </a:rPr>
              <a:t>3.12</a:t>
            </a:r>
            <a:r>
              <a:rPr lang="zh-TW" altLang="en-US" dirty="0">
                <a:highlight>
                  <a:srgbClr val="FFFFFF"/>
                </a:highlight>
                <a:ea typeface="+mn-lt"/>
                <a:cs typeface="+mn-lt"/>
              </a:rPr>
              <a:t> </a:t>
            </a:r>
            <a:r>
              <a:rPr lang="en-US" altLang="zh-TW" dirty="0">
                <a:highlight>
                  <a:srgbClr val="FFFFFF"/>
                </a:highlight>
                <a:ea typeface="+mn-lt"/>
                <a:cs typeface="+mn-lt"/>
              </a:rPr>
              <a:t>(64b</a:t>
            </a:r>
            <a:r>
              <a:rPr lang="zh-TW" dirty="0">
                <a:highlight>
                  <a:srgbClr val="FFFFFF"/>
                </a:highlight>
                <a:ea typeface="+mn-lt"/>
                <a:cs typeface="+mn-lt"/>
              </a:rPr>
              <a:t>i</a:t>
            </a:r>
            <a:r>
              <a:rPr lang="en-US" altLang="zh-TW" dirty="0">
                <a:highlight>
                  <a:srgbClr val="FFFFFF"/>
                </a:highlight>
                <a:ea typeface="+mn-lt"/>
                <a:cs typeface="+mn-lt"/>
              </a:rPr>
              <a:t>t):</a:t>
            </a:r>
            <a:r>
              <a:rPr lang="zh-TW" altLang="en-US" dirty="0">
                <a:highlight>
                  <a:srgbClr val="FFFFFF"/>
                </a:highlight>
                <a:ea typeface="+mn-lt"/>
                <a:cs typeface="+mn-lt"/>
              </a:rPr>
              <a:t> </a:t>
            </a:r>
            <a:r>
              <a:rPr lang="en-US" altLang="zh-TW" dirty="0">
                <a:highlight>
                  <a:srgbClr val="FFFFFF"/>
                </a:highlight>
                <a:ea typeface="+mn-lt"/>
                <a:cs typeface="+mn-lt"/>
              </a:rPr>
              <a:t>The</a:t>
            </a:r>
            <a:r>
              <a:rPr lang="zh-TW" altLang="en-US" dirty="0">
                <a:highlight>
                  <a:srgbClr val="FFFFFF"/>
                </a:highlight>
                <a:ea typeface="+mn-lt"/>
                <a:cs typeface="+mn-lt"/>
              </a:rPr>
              <a:t> </a:t>
            </a:r>
            <a:r>
              <a:rPr lang="zh-TW" dirty="0">
                <a:highlight>
                  <a:srgbClr val="FFFFFF"/>
                </a:highlight>
                <a:ea typeface="+mn-lt"/>
                <a:cs typeface="+mn-lt"/>
              </a:rPr>
              <a:t>n</a:t>
            </a:r>
            <a:r>
              <a:rPr lang="en-US" altLang="zh-TW" dirty="0">
                <a:highlight>
                  <a:srgbClr val="FFFFFF"/>
                </a:highlight>
                <a:ea typeface="+mn-lt"/>
                <a:cs typeface="+mn-lt"/>
              </a:rPr>
              <a:t>ewe</a:t>
            </a:r>
            <a:r>
              <a:rPr lang="zh-TW" dirty="0">
                <a:highlight>
                  <a:srgbClr val="FFFFFF"/>
                </a:highlight>
                <a:ea typeface="+mn-lt"/>
                <a:cs typeface="+mn-lt"/>
              </a:rPr>
              <a:t>st</a:t>
            </a:r>
            <a:r>
              <a:rPr lang="zh-TW" altLang="en-US" dirty="0">
                <a:highlight>
                  <a:srgbClr val="FFFFFF"/>
                </a:highlight>
                <a:ea typeface="+mn-lt"/>
                <a:cs typeface="+mn-lt"/>
              </a:rPr>
              <a:t> </a:t>
            </a:r>
            <a:r>
              <a:rPr lang="en-US" altLang="zh-TW" dirty="0">
                <a:highlight>
                  <a:srgbClr val="FFFFFF"/>
                </a:highlight>
                <a:ea typeface="+mn-lt"/>
                <a:cs typeface="+mn-lt"/>
              </a:rPr>
              <a:t>version</a:t>
            </a:r>
            <a:r>
              <a:rPr lang="zh-TW" altLang="en-US" dirty="0">
                <a:highlight>
                  <a:srgbClr val="FFFFFF"/>
                </a:highlight>
                <a:ea typeface="+mn-lt"/>
                <a:cs typeface="+mn-lt"/>
              </a:rPr>
              <a:t> </a:t>
            </a:r>
            <a:r>
              <a:rPr lang="en-US" altLang="zh-TW" dirty="0">
                <a:highlight>
                  <a:srgbClr val="FFFFFF"/>
                </a:highlight>
                <a:ea typeface="+mn-lt"/>
                <a:cs typeface="+mn-lt"/>
              </a:rPr>
              <a:t>of</a:t>
            </a:r>
            <a:r>
              <a:rPr lang="zh-TW" altLang="en-US" dirty="0">
                <a:highlight>
                  <a:srgbClr val="FFFFFF"/>
                </a:highlight>
                <a:ea typeface="+mn-lt"/>
                <a:cs typeface="+mn-lt"/>
              </a:rPr>
              <a:t> </a:t>
            </a:r>
            <a:r>
              <a:rPr lang="en-US" altLang="zh-TW" dirty="0">
                <a:highlight>
                  <a:srgbClr val="FFFFFF"/>
                </a:highlight>
                <a:ea typeface="+mn-lt"/>
                <a:cs typeface="+mn-lt"/>
              </a:rPr>
              <a:t>Python,</a:t>
            </a:r>
            <a:r>
              <a:rPr lang="zh-TW" altLang="en-US" dirty="0">
                <a:highlight>
                  <a:srgbClr val="FFFFFF"/>
                </a:highlight>
                <a:ea typeface="+mn-lt"/>
                <a:cs typeface="+mn-lt"/>
              </a:rPr>
              <a:t> </a:t>
            </a:r>
            <a:r>
              <a:rPr lang="en-US" altLang="zh-TW" dirty="0">
                <a:highlight>
                  <a:srgbClr val="FFFFFF"/>
                </a:highlight>
                <a:ea typeface="+mn-lt"/>
                <a:cs typeface="+mn-lt"/>
              </a:rPr>
              <a:t>such</a:t>
            </a:r>
            <a:r>
              <a:rPr lang="zh-TW" altLang="en-US" dirty="0">
                <a:highlight>
                  <a:srgbClr val="FFFFFF"/>
                </a:highlight>
                <a:ea typeface="+mn-lt"/>
                <a:cs typeface="+mn-lt"/>
              </a:rPr>
              <a:t> </a:t>
            </a:r>
            <a:r>
              <a:rPr lang="zh-TW" dirty="0">
                <a:highlight>
                  <a:srgbClr val="FFFFFF"/>
                </a:highlight>
                <a:ea typeface="+mn-lt"/>
                <a:cs typeface="+mn-lt"/>
              </a:rPr>
              <a:t>a</a:t>
            </a:r>
            <a:r>
              <a:rPr lang="en-US" altLang="zh-TW" dirty="0">
                <a:highlight>
                  <a:srgbClr val="FFFFFF"/>
                </a:highlight>
                <a:ea typeface="+mn-lt"/>
                <a:cs typeface="+mn-lt"/>
              </a:rPr>
              <a:t>s</a:t>
            </a:r>
            <a:r>
              <a:rPr lang="zh-TW" altLang="en-US" dirty="0">
                <a:highlight>
                  <a:srgbClr val="FFFFFF"/>
                </a:highlight>
                <a:ea typeface="+mn-lt"/>
                <a:cs typeface="+mn-lt"/>
              </a:rPr>
              <a:t> </a:t>
            </a:r>
            <a:r>
              <a:rPr lang="en-US" altLang="zh-TW" dirty="0">
                <a:highlight>
                  <a:srgbClr val="FFFFFF"/>
                </a:highlight>
                <a:ea typeface="+mn-lt"/>
                <a:cs typeface="+mn-lt"/>
              </a:rPr>
              <a:t>Python</a:t>
            </a:r>
            <a:r>
              <a:rPr lang="zh-TW" altLang="en-US" dirty="0">
                <a:highlight>
                  <a:srgbClr val="FFFFFF"/>
                </a:highlight>
                <a:ea typeface="+mn-lt"/>
                <a:cs typeface="+mn-lt"/>
              </a:rPr>
              <a:t> </a:t>
            </a:r>
            <a:r>
              <a:rPr lang="en-US" altLang="zh-TW" dirty="0">
                <a:highlight>
                  <a:srgbClr val="FFFFFF"/>
                </a:highlight>
                <a:ea typeface="+mn-lt"/>
                <a:cs typeface="+mn-lt"/>
              </a:rPr>
              <a:t>3.14,</a:t>
            </a:r>
            <a:r>
              <a:rPr lang="zh-TW" altLang="en-US" dirty="0">
                <a:highlight>
                  <a:srgbClr val="FFFFFF"/>
                </a:highlight>
                <a:ea typeface="+mn-lt"/>
                <a:cs typeface="+mn-lt"/>
              </a:rPr>
              <a:t> </a:t>
            </a:r>
            <a:r>
              <a:rPr lang="en-US" altLang="zh-TW" dirty="0">
                <a:highlight>
                  <a:srgbClr val="FFFFFF"/>
                </a:highlight>
                <a:ea typeface="+mn-lt"/>
                <a:cs typeface="+mn-lt"/>
              </a:rPr>
              <a:t>is</a:t>
            </a:r>
            <a:r>
              <a:rPr lang="zh-TW" altLang="en-US" dirty="0">
                <a:highlight>
                  <a:srgbClr val="FFFFFF"/>
                </a:highlight>
                <a:ea typeface="+mn-lt"/>
                <a:cs typeface="+mn-lt"/>
              </a:rPr>
              <a:t> </a:t>
            </a:r>
            <a:r>
              <a:rPr lang="en-US" altLang="zh-TW" dirty="0">
                <a:highlight>
                  <a:srgbClr val="FFFFFF"/>
                </a:highlight>
                <a:ea typeface="+mn-lt"/>
                <a:cs typeface="+mn-lt"/>
              </a:rPr>
              <a:t>too</a:t>
            </a:r>
            <a:r>
              <a:rPr lang="zh-TW" altLang="en-US" dirty="0">
                <a:highlight>
                  <a:srgbClr val="FFFFFF"/>
                </a:highlight>
                <a:ea typeface="+mn-lt"/>
                <a:cs typeface="+mn-lt"/>
              </a:rPr>
              <a:t> </a:t>
            </a:r>
            <a:r>
              <a:rPr lang="en-US" altLang="zh-TW" dirty="0">
                <a:highlight>
                  <a:srgbClr val="FFFFFF"/>
                </a:highlight>
                <a:ea typeface="+mn-lt"/>
                <a:cs typeface="+mn-lt"/>
              </a:rPr>
              <a:t>new,</a:t>
            </a:r>
            <a:r>
              <a:rPr lang="zh-TW" altLang="en-US" dirty="0">
                <a:highlight>
                  <a:srgbClr val="FFFFFF"/>
                </a:highlight>
                <a:ea typeface="+mn-lt"/>
                <a:cs typeface="+mn-lt"/>
              </a:rPr>
              <a:t> </a:t>
            </a:r>
            <a:r>
              <a:rPr lang="en-US" altLang="zh-TW" dirty="0">
                <a:highlight>
                  <a:srgbClr val="FFFFFF"/>
                </a:highlight>
                <a:ea typeface="+mn-lt"/>
                <a:cs typeface="+mn-lt"/>
              </a:rPr>
              <a:t>some</a:t>
            </a:r>
            <a:r>
              <a:rPr lang="zh-TW" altLang="en-US" dirty="0">
                <a:highlight>
                  <a:srgbClr val="FFFFFF"/>
                </a:highlight>
                <a:ea typeface="+mn-lt"/>
                <a:cs typeface="+mn-lt"/>
              </a:rPr>
              <a:t> </a:t>
            </a:r>
            <a:r>
              <a:rPr lang="zh-TW" dirty="0">
                <a:highlight>
                  <a:srgbClr val="FFFFFF"/>
                </a:highlight>
                <a:ea typeface="+mn-lt"/>
                <a:cs typeface="+mn-lt"/>
              </a:rPr>
              <a:t>l</a:t>
            </a:r>
            <a:r>
              <a:rPr lang="en-US" altLang="zh-TW" dirty="0" err="1">
                <a:highlight>
                  <a:srgbClr val="FFFFFF"/>
                </a:highlight>
                <a:ea typeface="+mn-lt"/>
                <a:cs typeface="+mn-lt"/>
              </a:rPr>
              <a:t>ibraries</a:t>
            </a:r>
            <a:r>
              <a:rPr lang="zh-TW" altLang="en-US" dirty="0">
                <a:highlight>
                  <a:srgbClr val="FFFFFF"/>
                </a:highlight>
                <a:ea typeface="+mn-lt"/>
                <a:cs typeface="+mn-lt"/>
              </a:rPr>
              <a:t> </a:t>
            </a:r>
            <a:r>
              <a:rPr lang="en-US" altLang="zh-TW" dirty="0">
                <a:highlight>
                  <a:srgbClr val="FFFFFF"/>
                </a:highlight>
                <a:ea typeface="+mn-lt"/>
                <a:cs typeface="+mn-lt"/>
              </a:rPr>
              <a:t>are</a:t>
            </a:r>
            <a:r>
              <a:rPr lang="zh-TW" altLang="en-US" dirty="0">
                <a:highlight>
                  <a:srgbClr val="FFFFFF"/>
                </a:highlight>
                <a:ea typeface="+mn-lt"/>
                <a:cs typeface="+mn-lt"/>
              </a:rPr>
              <a:t> </a:t>
            </a:r>
            <a:r>
              <a:rPr lang="en-US" altLang="zh-TW" dirty="0">
                <a:highlight>
                  <a:srgbClr val="FFFFFF"/>
                </a:highlight>
                <a:ea typeface="+mn-lt"/>
                <a:cs typeface="+mn-lt"/>
              </a:rPr>
              <a:t>not</a:t>
            </a:r>
            <a:r>
              <a:rPr lang="zh-TW" altLang="en-US" dirty="0">
                <a:highlight>
                  <a:srgbClr val="FFFFFF"/>
                </a:highlight>
                <a:ea typeface="+mn-lt"/>
                <a:cs typeface="+mn-lt"/>
              </a:rPr>
              <a:t> </a:t>
            </a:r>
            <a:r>
              <a:rPr lang="en-US" altLang="zh-TW" dirty="0">
                <a:highlight>
                  <a:srgbClr val="FFFFFF"/>
                </a:highlight>
                <a:ea typeface="+mn-lt"/>
                <a:cs typeface="+mn-lt"/>
              </a:rPr>
              <a:t>supported.</a:t>
            </a:r>
            <a:r>
              <a:rPr lang="zh-TW" altLang="en-US" dirty="0">
                <a:highlight>
                  <a:srgbClr val="FFFFFF"/>
                </a:highlight>
                <a:ea typeface="+mn-lt"/>
                <a:cs typeface="+mn-lt"/>
              </a:rPr>
              <a:t> </a:t>
            </a:r>
            <a:r>
              <a:rPr lang="en-US" altLang="zh-TW" dirty="0">
                <a:highlight>
                  <a:srgbClr val="FFFFFF"/>
                </a:highlight>
                <a:ea typeface="+mn-lt"/>
                <a:cs typeface="+mn-lt"/>
              </a:rPr>
              <a:t>Python</a:t>
            </a:r>
            <a:r>
              <a:rPr lang="zh-TW" altLang="en-US" dirty="0">
                <a:highlight>
                  <a:srgbClr val="FFFFFF"/>
                </a:highlight>
                <a:ea typeface="+mn-lt"/>
                <a:cs typeface="+mn-lt"/>
              </a:rPr>
              <a:t> </a:t>
            </a:r>
            <a:r>
              <a:rPr lang="en-US" altLang="zh-TW" dirty="0">
                <a:highlight>
                  <a:srgbClr val="FFFFFF"/>
                </a:highlight>
                <a:ea typeface="+mn-lt"/>
                <a:cs typeface="+mn-lt"/>
              </a:rPr>
              <a:t>3.12</a:t>
            </a:r>
            <a:r>
              <a:rPr lang="zh-TW" altLang="en-US" dirty="0">
                <a:highlight>
                  <a:srgbClr val="FFFFFF"/>
                </a:highlight>
                <a:ea typeface="+mn-lt"/>
                <a:cs typeface="+mn-lt"/>
              </a:rPr>
              <a:t> </a:t>
            </a:r>
            <a:r>
              <a:rPr lang="en-US" altLang="zh-TW" dirty="0">
                <a:highlight>
                  <a:srgbClr val="FFFFFF"/>
                </a:highlight>
                <a:ea typeface="+mn-lt"/>
                <a:cs typeface="+mn-lt"/>
              </a:rPr>
              <a:t>is</a:t>
            </a:r>
            <a:r>
              <a:rPr lang="zh-TW" altLang="en-US" dirty="0">
                <a:highlight>
                  <a:srgbClr val="FFFFFF"/>
                </a:highlight>
                <a:ea typeface="+mn-lt"/>
                <a:cs typeface="+mn-lt"/>
              </a:rPr>
              <a:t> </a:t>
            </a:r>
            <a:r>
              <a:rPr lang="en-US" altLang="zh-TW" dirty="0">
                <a:highlight>
                  <a:srgbClr val="FFFFFF"/>
                </a:highlight>
                <a:ea typeface="+mn-lt"/>
                <a:cs typeface="+mn-lt"/>
              </a:rPr>
              <a:t>my</a:t>
            </a:r>
            <a:r>
              <a:rPr lang="zh-TW" altLang="en-US" dirty="0">
                <a:highlight>
                  <a:srgbClr val="FFFFFF"/>
                </a:highlight>
                <a:ea typeface="+mn-lt"/>
                <a:cs typeface="+mn-lt"/>
              </a:rPr>
              <a:t> </a:t>
            </a:r>
            <a:r>
              <a:rPr lang="en-US" altLang="zh-TW" dirty="0" err="1">
                <a:highlight>
                  <a:srgbClr val="FFFFFF"/>
                </a:highlight>
                <a:ea typeface="+mn-lt"/>
                <a:cs typeface="+mn-lt"/>
              </a:rPr>
              <a:t>deve</a:t>
            </a:r>
            <a:r>
              <a:rPr lang="zh-TW" dirty="0">
                <a:highlight>
                  <a:srgbClr val="FFFFFF"/>
                </a:highlight>
                <a:ea typeface="+mn-lt"/>
                <a:cs typeface="+mn-lt"/>
              </a:rPr>
              <a:t>lo</a:t>
            </a:r>
            <a:r>
              <a:rPr lang="en-US" altLang="zh-TW" dirty="0">
                <a:highlight>
                  <a:srgbClr val="FFFFFF"/>
                </a:highlight>
                <a:ea typeface="+mn-lt"/>
                <a:cs typeface="+mn-lt"/>
              </a:rPr>
              <a:t>p</a:t>
            </a:r>
            <a:r>
              <a:rPr lang="zh-TW" altLang="en-US" dirty="0">
                <a:highlight>
                  <a:srgbClr val="FFFFFF"/>
                </a:highlight>
                <a:ea typeface="+mn-lt"/>
                <a:cs typeface="+mn-lt"/>
              </a:rPr>
              <a:t> </a:t>
            </a:r>
            <a:r>
              <a:rPr lang="en-US" altLang="zh-TW" dirty="0">
                <a:highlight>
                  <a:srgbClr val="FFFFFF"/>
                </a:highlight>
                <a:ea typeface="+mn-lt"/>
                <a:cs typeface="+mn-lt"/>
              </a:rPr>
              <a:t>version,</a:t>
            </a:r>
            <a:r>
              <a:rPr lang="zh-TW" altLang="en-US" dirty="0">
                <a:highlight>
                  <a:srgbClr val="FFFFFF"/>
                </a:highlight>
                <a:ea typeface="+mn-lt"/>
                <a:cs typeface="+mn-lt"/>
              </a:rPr>
              <a:t> </a:t>
            </a:r>
            <a:r>
              <a:rPr lang="en-US" altLang="zh-TW" dirty="0">
                <a:highlight>
                  <a:srgbClr val="FFFFFF"/>
                </a:highlight>
                <a:ea typeface="+mn-lt"/>
                <a:cs typeface="+mn-lt"/>
              </a:rPr>
              <a:t>so</a:t>
            </a:r>
            <a:r>
              <a:rPr lang="zh-TW" altLang="en-US" dirty="0">
                <a:highlight>
                  <a:srgbClr val="FFFFFF"/>
                </a:highlight>
                <a:ea typeface="+mn-lt"/>
                <a:cs typeface="+mn-lt"/>
              </a:rPr>
              <a:t> </a:t>
            </a:r>
            <a:r>
              <a:rPr lang="en-US" altLang="zh-TW" dirty="0">
                <a:highlight>
                  <a:srgbClr val="FFFFFF"/>
                </a:highlight>
                <a:ea typeface="+mn-lt"/>
                <a:cs typeface="+mn-lt"/>
              </a:rPr>
              <a:t>my</a:t>
            </a:r>
            <a:r>
              <a:rPr lang="zh-TW" altLang="en-US" dirty="0">
                <a:highlight>
                  <a:srgbClr val="FFFFFF"/>
                </a:highlight>
                <a:ea typeface="+mn-lt"/>
                <a:cs typeface="+mn-lt"/>
              </a:rPr>
              <a:t> </a:t>
            </a:r>
            <a:r>
              <a:rPr lang="en-US" altLang="zh-TW" dirty="0">
                <a:highlight>
                  <a:srgbClr val="FFFFFF"/>
                </a:highlight>
                <a:ea typeface="+mn-lt"/>
                <a:cs typeface="+mn-lt"/>
              </a:rPr>
              <a:t>pr</a:t>
            </a:r>
            <a:r>
              <a:rPr lang="zh-TW" dirty="0">
                <a:highlight>
                  <a:srgbClr val="FFFFFF"/>
                </a:highlight>
                <a:ea typeface="+mn-lt"/>
                <a:cs typeface="+mn-lt"/>
              </a:rPr>
              <a:t>og</a:t>
            </a:r>
            <a:r>
              <a:rPr lang="en-US" altLang="zh-TW" dirty="0">
                <a:highlight>
                  <a:srgbClr val="FFFFFF"/>
                </a:highlight>
                <a:ea typeface="+mn-lt"/>
                <a:cs typeface="+mn-lt"/>
              </a:rPr>
              <a:t>ram</a:t>
            </a:r>
            <a:r>
              <a:rPr lang="zh-TW" altLang="en-US" dirty="0">
                <a:highlight>
                  <a:srgbClr val="FFFFFF"/>
                </a:highlight>
                <a:ea typeface="+mn-lt"/>
                <a:cs typeface="+mn-lt"/>
              </a:rPr>
              <a:t> </a:t>
            </a:r>
            <a:r>
              <a:rPr lang="en-US" altLang="zh-TW" dirty="0">
                <a:highlight>
                  <a:srgbClr val="FFFFFF"/>
                </a:highlight>
                <a:ea typeface="+mn-lt"/>
                <a:cs typeface="+mn-lt"/>
              </a:rPr>
              <a:t>can</a:t>
            </a:r>
            <a:r>
              <a:rPr lang="zh-TW" altLang="en-US" dirty="0">
                <a:highlight>
                  <a:srgbClr val="FFFFFF"/>
                </a:highlight>
                <a:ea typeface="+mn-lt"/>
                <a:cs typeface="+mn-lt"/>
              </a:rPr>
              <a:t> </a:t>
            </a:r>
            <a:r>
              <a:rPr lang="en-US" altLang="zh-TW" dirty="0">
                <a:highlight>
                  <a:srgbClr val="FFFFFF"/>
                </a:highlight>
                <a:ea typeface="+mn-lt"/>
                <a:cs typeface="+mn-lt"/>
              </a:rPr>
              <a:t>run</a:t>
            </a:r>
            <a:r>
              <a:rPr lang="zh-TW" altLang="en-US" dirty="0">
                <a:highlight>
                  <a:srgbClr val="FFFFFF"/>
                </a:highlight>
                <a:ea typeface="+mn-lt"/>
                <a:cs typeface="+mn-lt"/>
              </a:rPr>
              <a:t> </a:t>
            </a:r>
            <a:r>
              <a:rPr lang="en-US" altLang="zh-TW" dirty="0">
                <a:highlight>
                  <a:srgbClr val="FFFFFF"/>
                </a:highlight>
                <a:ea typeface="+mn-lt"/>
                <a:cs typeface="+mn-lt"/>
              </a:rPr>
              <a:t>successful</a:t>
            </a:r>
            <a:r>
              <a:rPr lang="zh-TW" dirty="0">
                <a:highlight>
                  <a:srgbClr val="FFFFFF"/>
                </a:highlight>
                <a:ea typeface="+mn-lt"/>
                <a:cs typeface="+mn-lt"/>
              </a:rPr>
              <a:t>l</a:t>
            </a:r>
            <a:r>
              <a:rPr lang="en-US" altLang="zh-TW" dirty="0">
                <a:highlight>
                  <a:srgbClr val="FFFFFF"/>
                </a:highlight>
                <a:ea typeface="+mn-lt"/>
                <a:cs typeface="+mn-lt"/>
              </a:rPr>
              <a:t>y</a:t>
            </a:r>
            <a:r>
              <a:rPr lang="zh-TW" altLang="en-US" dirty="0">
                <a:highlight>
                  <a:srgbClr val="FFFFFF"/>
                </a:highlight>
                <a:ea typeface="+mn-lt"/>
                <a:cs typeface="+mn-lt"/>
              </a:rPr>
              <a:t> </a:t>
            </a:r>
            <a:r>
              <a:rPr lang="en-US" altLang="zh-TW" dirty="0">
                <a:highlight>
                  <a:srgbClr val="FFFFFF"/>
                </a:highlight>
                <a:ea typeface="+mn-lt"/>
                <a:cs typeface="+mn-lt"/>
              </a:rPr>
              <a:t>in</a:t>
            </a:r>
            <a:r>
              <a:rPr lang="zh-TW" altLang="en-US" dirty="0">
                <a:highlight>
                  <a:srgbClr val="FFFFFF"/>
                </a:highlight>
                <a:ea typeface="+mn-lt"/>
                <a:cs typeface="+mn-lt"/>
              </a:rPr>
              <a:t> </a:t>
            </a:r>
            <a:r>
              <a:rPr lang="en-US" altLang="zh-TW" dirty="0">
                <a:highlight>
                  <a:srgbClr val="FFFFFF"/>
                </a:highlight>
                <a:ea typeface="+mn-lt"/>
                <a:cs typeface="+mn-lt"/>
              </a:rPr>
              <a:t>this</a:t>
            </a:r>
            <a:r>
              <a:rPr lang="zh-TW" altLang="en-US" dirty="0">
                <a:highlight>
                  <a:srgbClr val="FFFFFF"/>
                </a:highlight>
                <a:ea typeface="+mn-lt"/>
                <a:cs typeface="+mn-lt"/>
              </a:rPr>
              <a:t> </a:t>
            </a:r>
            <a:r>
              <a:rPr lang="en-US" altLang="zh-TW" dirty="0">
                <a:highlight>
                  <a:srgbClr val="FFFFFF"/>
                </a:highlight>
                <a:ea typeface="+mn-lt"/>
                <a:cs typeface="+mn-lt"/>
              </a:rPr>
              <a:t>v</a:t>
            </a:r>
            <a:r>
              <a:rPr lang="zh-TW" dirty="0">
                <a:highlight>
                  <a:srgbClr val="FFFFFF"/>
                </a:highlight>
                <a:ea typeface="+mn-lt"/>
                <a:cs typeface="+mn-lt"/>
              </a:rPr>
              <a:t>e</a:t>
            </a:r>
            <a:r>
              <a:rPr lang="en-US" altLang="zh-TW" dirty="0" err="1">
                <a:highlight>
                  <a:srgbClr val="FFFFFF"/>
                </a:highlight>
                <a:ea typeface="+mn-lt"/>
                <a:cs typeface="+mn-lt"/>
              </a:rPr>
              <a:t>rsion</a:t>
            </a:r>
            <a:r>
              <a:rPr lang="en-US" altLang="zh-TW" dirty="0">
                <a:highlight>
                  <a:srgbClr val="FFFFFF"/>
                </a:highlight>
                <a:ea typeface="+mn-lt"/>
                <a:cs typeface="+mn-lt"/>
              </a:rPr>
              <a:t>.</a:t>
            </a:r>
            <a:r>
              <a:rPr lang="zh-TW" altLang="en-US" dirty="0">
                <a:highlight>
                  <a:srgbClr val="FFFFFF"/>
                </a:highlight>
                <a:ea typeface="+mn-lt"/>
                <a:cs typeface="+mn-lt"/>
              </a:rPr>
              <a:t> </a:t>
            </a:r>
            <a:endParaRPr lang="zh-TW" altLang="en-US" dirty="0"/>
          </a:p>
          <a:p>
            <a:pPr>
              <a:buSzPct val="114999"/>
            </a:pPr>
            <a:r>
              <a:rPr lang="en-US" altLang="zh-TW" dirty="0">
                <a:highlight>
                  <a:srgbClr val="FFFFFF"/>
                </a:highlight>
                <a:ea typeface="+mn-lt"/>
                <a:cs typeface="+mn-lt"/>
              </a:rPr>
              <a:t>G</a:t>
            </a:r>
            <a:r>
              <a:rPr lang="zh-TW" dirty="0">
                <a:highlight>
                  <a:srgbClr val="FFFFFF"/>
                </a:highlight>
                <a:ea typeface="+mn-lt"/>
                <a:cs typeface="+mn-lt"/>
              </a:rPr>
              <a:t>e</a:t>
            </a:r>
            <a:r>
              <a:rPr lang="en-US" altLang="zh-TW" dirty="0">
                <a:highlight>
                  <a:srgbClr val="FFFFFF"/>
                </a:highlight>
                <a:ea typeface="+mn-lt"/>
                <a:cs typeface="+mn-lt"/>
              </a:rPr>
              <a:t>mini</a:t>
            </a:r>
            <a:r>
              <a:rPr lang="zh-TW" dirty="0">
                <a:highlight>
                  <a:srgbClr val="FFFFFF"/>
                </a:highlight>
                <a:ea typeface="+mn-lt"/>
                <a:cs typeface="+mn-lt"/>
              </a:rPr>
              <a:t>n</a:t>
            </a:r>
            <a:r>
              <a:rPr lang="zh-TW" altLang="en-US" dirty="0">
                <a:highlight>
                  <a:srgbClr val="FFFFFF"/>
                </a:highlight>
                <a:ea typeface="+mn-lt"/>
                <a:cs typeface="+mn-lt"/>
              </a:rPr>
              <a:t> </a:t>
            </a:r>
            <a:r>
              <a:rPr lang="en-US" altLang="zh-TW" dirty="0">
                <a:highlight>
                  <a:srgbClr val="FFFFFF"/>
                </a:highlight>
                <a:ea typeface="+mn-lt"/>
                <a:cs typeface="+mn-lt"/>
              </a:rPr>
              <a:t>API:</a:t>
            </a:r>
            <a:r>
              <a:rPr lang="zh-TW" altLang="en-US" dirty="0">
                <a:highlight>
                  <a:srgbClr val="FFFFFF"/>
                </a:highlight>
                <a:ea typeface="+mn-lt"/>
                <a:cs typeface="+mn-lt"/>
              </a:rPr>
              <a:t> </a:t>
            </a:r>
            <a:r>
              <a:rPr lang="en-US" altLang="zh-TW" dirty="0">
                <a:highlight>
                  <a:srgbClr val="FFFFFF"/>
                </a:highlight>
                <a:ea typeface="+mn-lt"/>
                <a:cs typeface="+mn-lt"/>
              </a:rPr>
              <a:t>For</a:t>
            </a:r>
            <a:r>
              <a:rPr lang="zh-TW" altLang="en-US" dirty="0">
                <a:highlight>
                  <a:srgbClr val="FFFFFF"/>
                </a:highlight>
                <a:ea typeface="+mn-lt"/>
                <a:cs typeface="+mn-lt"/>
              </a:rPr>
              <a:t> </a:t>
            </a:r>
            <a:r>
              <a:rPr lang="en-US" altLang="zh-TW" dirty="0" err="1">
                <a:highlight>
                  <a:srgbClr val="FFFFFF"/>
                </a:highlight>
                <a:ea typeface="+mn-lt"/>
                <a:cs typeface="+mn-lt"/>
              </a:rPr>
              <a:t>cre</a:t>
            </a:r>
            <a:r>
              <a:rPr lang="zh-TW" dirty="0">
                <a:highlight>
                  <a:srgbClr val="FFFFFF"/>
                </a:highlight>
                <a:ea typeface="+mn-lt"/>
                <a:cs typeface="+mn-lt"/>
              </a:rPr>
              <a:t>a</a:t>
            </a:r>
            <a:r>
              <a:rPr lang="en-US" altLang="zh-TW" dirty="0" err="1">
                <a:highlight>
                  <a:srgbClr val="FFFFFF"/>
                </a:highlight>
                <a:ea typeface="+mn-lt"/>
                <a:cs typeface="+mn-lt"/>
              </a:rPr>
              <a:t>te</a:t>
            </a:r>
            <a:r>
              <a:rPr lang="zh-TW" altLang="en-US" dirty="0">
                <a:highlight>
                  <a:srgbClr val="FFFFFF"/>
                </a:highlight>
                <a:ea typeface="+mn-lt"/>
                <a:cs typeface="+mn-lt"/>
              </a:rPr>
              <a:t> </a:t>
            </a:r>
            <a:r>
              <a:rPr lang="en-US" altLang="zh-TW" dirty="0">
                <a:highlight>
                  <a:srgbClr val="FFFFFF"/>
                </a:highlight>
                <a:ea typeface="+mn-lt"/>
                <a:cs typeface="+mn-lt"/>
              </a:rPr>
              <a:t>the</a:t>
            </a:r>
            <a:r>
              <a:rPr lang="zh-TW" altLang="en-US" dirty="0">
                <a:highlight>
                  <a:srgbClr val="FFFFFF"/>
                </a:highlight>
                <a:ea typeface="+mn-lt"/>
                <a:cs typeface="+mn-lt"/>
              </a:rPr>
              <a:t> </a:t>
            </a:r>
            <a:r>
              <a:rPr lang="en-US" altLang="zh-TW" dirty="0">
                <a:highlight>
                  <a:srgbClr val="FFFFFF"/>
                </a:highlight>
                <a:ea typeface="+mn-lt"/>
                <a:cs typeface="+mn-lt"/>
              </a:rPr>
              <a:t>story</a:t>
            </a:r>
            <a:r>
              <a:rPr lang="zh-TW" altLang="en-US" dirty="0">
                <a:highlight>
                  <a:srgbClr val="FFFFFF"/>
                </a:highlight>
                <a:ea typeface="+mn-lt"/>
                <a:cs typeface="+mn-lt"/>
              </a:rPr>
              <a:t> </a:t>
            </a:r>
            <a:endParaRPr lang="zh-TW" dirty="0"/>
          </a:p>
          <a:p>
            <a:pPr>
              <a:buSzPct val="114999"/>
            </a:pPr>
            <a:r>
              <a:rPr lang="zh-TW">
                <a:highlight>
                  <a:srgbClr val="FFFFFF"/>
                </a:highlight>
                <a:ea typeface="+mn-lt"/>
                <a:cs typeface="+mn-lt"/>
              </a:rPr>
              <a:t>VPN</a:t>
            </a:r>
            <a:r>
              <a:rPr lang="en-US" altLang="zh-TW">
                <a:highlight>
                  <a:srgbClr val="FFFFFF"/>
                </a:highlight>
                <a:ea typeface="+mn-lt"/>
                <a:cs typeface="+mn-lt"/>
              </a:rPr>
              <a:t>:</a:t>
            </a:r>
            <a:r>
              <a:rPr lang="zh-TW" altLang="en-US" dirty="0">
                <a:highlight>
                  <a:srgbClr val="FFFFFF"/>
                </a:highlight>
                <a:ea typeface="+mn-lt"/>
                <a:cs typeface="+mn-lt"/>
              </a:rPr>
              <a:t> </a:t>
            </a:r>
            <a:r>
              <a:rPr lang="en-US" altLang="zh-TW">
                <a:highlight>
                  <a:srgbClr val="FFFFFF"/>
                </a:highlight>
                <a:ea typeface="+mn-lt"/>
                <a:cs typeface="+mn-lt"/>
              </a:rPr>
              <a:t>Because</a:t>
            </a:r>
            <a:r>
              <a:rPr lang="zh-TW" altLang="en-US" dirty="0">
                <a:highlight>
                  <a:srgbClr val="FFFFFF"/>
                </a:highlight>
                <a:ea typeface="+mn-lt"/>
                <a:cs typeface="+mn-lt"/>
              </a:rPr>
              <a:t> </a:t>
            </a:r>
            <a:r>
              <a:rPr lang="en-US" altLang="zh-TW">
                <a:highlight>
                  <a:srgbClr val="FFFFFF"/>
                </a:highlight>
                <a:ea typeface="+mn-lt"/>
                <a:cs typeface="+mn-lt"/>
              </a:rPr>
              <a:t>Gemini</a:t>
            </a:r>
            <a:r>
              <a:rPr lang="zh-TW" altLang="en-US" dirty="0">
                <a:highlight>
                  <a:srgbClr val="FFFFFF"/>
                </a:highlight>
                <a:ea typeface="+mn-lt"/>
                <a:cs typeface="+mn-lt"/>
              </a:rPr>
              <a:t> </a:t>
            </a:r>
            <a:r>
              <a:rPr lang="en-US" altLang="zh-TW">
                <a:highlight>
                  <a:srgbClr val="FFFFFF"/>
                </a:highlight>
                <a:ea typeface="+mn-lt"/>
                <a:cs typeface="+mn-lt"/>
              </a:rPr>
              <a:t>API</a:t>
            </a:r>
            <a:r>
              <a:rPr lang="zh-TW" altLang="en-US" dirty="0">
                <a:highlight>
                  <a:srgbClr val="FFFFFF"/>
                </a:highlight>
                <a:ea typeface="+mn-lt"/>
                <a:cs typeface="+mn-lt"/>
              </a:rPr>
              <a:t> </a:t>
            </a:r>
            <a:r>
              <a:rPr lang="en-US" altLang="zh-TW">
                <a:highlight>
                  <a:srgbClr val="FFFFFF"/>
                </a:highlight>
                <a:ea typeface="+mn-lt"/>
                <a:cs typeface="+mn-lt"/>
              </a:rPr>
              <a:t>is</a:t>
            </a:r>
            <a:r>
              <a:rPr lang="zh-TW" altLang="en-US" dirty="0">
                <a:highlight>
                  <a:srgbClr val="FFFFFF"/>
                </a:highlight>
                <a:ea typeface="+mn-lt"/>
                <a:cs typeface="+mn-lt"/>
              </a:rPr>
              <a:t> </a:t>
            </a:r>
            <a:r>
              <a:rPr lang="en-US" altLang="zh-TW">
                <a:highlight>
                  <a:srgbClr val="FFFFFF"/>
                </a:highlight>
                <a:ea typeface="+mn-lt"/>
                <a:cs typeface="+mn-lt"/>
              </a:rPr>
              <a:t>not</a:t>
            </a:r>
            <a:r>
              <a:rPr lang="zh-TW" altLang="en-US" dirty="0">
                <a:highlight>
                  <a:srgbClr val="FFFFFF"/>
                </a:highlight>
                <a:ea typeface="+mn-lt"/>
                <a:cs typeface="+mn-lt"/>
              </a:rPr>
              <a:t> </a:t>
            </a:r>
            <a:r>
              <a:rPr lang="en-US" altLang="zh-TW">
                <a:highlight>
                  <a:srgbClr val="FFFFFF"/>
                </a:highlight>
                <a:ea typeface="+mn-lt"/>
                <a:cs typeface="+mn-lt"/>
              </a:rPr>
              <a:t>supported</a:t>
            </a:r>
            <a:r>
              <a:rPr lang="zh-TW" altLang="en-US" dirty="0">
                <a:highlight>
                  <a:srgbClr val="FFFFFF"/>
                </a:highlight>
                <a:ea typeface="+mn-lt"/>
                <a:cs typeface="+mn-lt"/>
              </a:rPr>
              <a:t> </a:t>
            </a:r>
            <a:r>
              <a:rPr lang="en-US" altLang="zh-TW">
                <a:highlight>
                  <a:srgbClr val="FFFFFF"/>
                </a:highlight>
                <a:ea typeface="+mn-lt"/>
                <a:cs typeface="+mn-lt"/>
              </a:rPr>
              <a:t>in</a:t>
            </a:r>
            <a:r>
              <a:rPr lang="zh-TW" altLang="en-US" dirty="0">
                <a:highlight>
                  <a:srgbClr val="FFFFFF"/>
                </a:highlight>
                <a:ea typeface="+mn-lt"/>
                <a:cs typeface="+mn-lt"/>
              </a:rPr>
              <a:t> </a:t>
            </a:r>
            <a:r>
              <a:rPr lang="en-US" altLang="zh-TW">
                <a:highlight>
                  <a:srgbClr val="FFFFFF"/>
                </a:highlight>
                <a:ea typeface="+mn-lt"/>
                <a:cs typeface="+mn-lt"/>
              </a:rPr>
              <a:t>the</a:t>
            </a:r>
            <a:r>
              <a:rPr lang="zh-TW" altLang="en-US" dirty="0">
                <a:highlight>
                  <a:srgbClr val="FFFFFF"/>
                </a:highlight>
                <a:ea typeface="+mn-lt"/>
                <a:cs typeface="+mn-lt"/>
              </a:rPr>
              <a:t> </a:t>
            </a:r>
            <a:r>
              <a:rPr lang="en-US" altLang="zh-TW">
                <a:highlight>
                  <a:srgbClr val="FFFFFF"/>
                </a:highlight>
                <a:ea typeface="+mn-lt"/>
                <a:cs typeface="+mn-lt"/>
              </a:rPr>
              <a:t>Hong</a:t>
            </a:r>
            <a:r>
              <a:rPr lang="zh-TW" altLang="en-US" dirty="0">
                <a:highlight>
                  <a:srgbClr val="FFFFFF"/>
                </a:highlight>
                <a:ea typeface="+mn-lt"/>
                <a:cs typeface="+mn-lt"/>
              </a:rPr>
              <a:t> </a:t>
            </a:r>
            <a:r>
              <a:rPr lang="en-US" altLang="zh-TW">
                <a:highlight>
                  <a:srgbClr val="FFFFFF"/>
                </a:highlight>
                <a:ea typeface="+mn-lt"/>
                <a:cs typeface="+mn-lt"/>
              </a:rPr>
              <a:t>Kong</a:t>
            </a:r>
            <a:r>
              <a:rPr lang="zh-TW" altLang="en-US" dirty="0">
                <a:highlight>
                  <a:srgbClr val="FFFFFF"/>
                </a:highlight>
                <a:ea typeface="+mn-lt"/>
                <a:cs typeface="+mn-lt"/>
              </a:rPr>
              <a:t> </a:t>
            </a:r>
            <a:r>
              <a:rPr lang="en-US" altLang="zh-TW">
                <a:highlight>
                  <a:srgbClr val="FFFFFF"/>
                </a:highlight>
                <a:ea typeface="+mn-lt"/>
                <a:cs typeface="+mn-lt"/>
              </a:rPr>
              <a:t>area.</a:t>
            </a:r>
            <a:r>
              <a:rPr lang="zh-TW" altLang="en-US" dirty="0">
                <a:highlight>
                  <a:srgbClr val="FFFFFF"/>
                </a:highlight>
                <a:ea typeface="+mn-lt"/>
                <a:cs typeface="+mn-lt"/>
              </a:rPr>
              <a:t> </a:t>
            </a:r>
            <a:endParaRPr lang="zh-TW" altLang="en-US" dirty="0"/>
          </a:p>
          <a:p>
            <a:pPr>
              <a:buSzPct val="114999"/>
            </a:pPr>
            <a:r>
              <a:rPr lang="en-US" altLang="zh-TW">
                <a:highlight>
                  <a:srgbClr val="FFFFFF"/>
                </a:highlight>
                <a:ea typeface="+mn-lt"/>
                <a:cs typeface="+mn-lt"/>
              </a:rPr>
              <a:t>requirements.txt:</a:t>
            </a:r>
            <a:r>
              <a:rPr lang="zh-TW" altLang="en-US" dirty="0">
                <a:highlight>
                  <a:srgbClr val="FFFFFF"/>
                </a:highlight>
                <a:ea typeface="+mn-lt"/>
                <a:cs typeface="+mn-lt"/>
              </a:rPr>
              <a:t> </a:t>
            </a:r>
            <a:r>
              <a:rPr lang="en-US" altLang="zh-TW">
                <a:highlight>
                  <a:srgbClr val="FFFFFF"/>
                </a:highlight>
                <a:ea typeface="+mn-lt"/>
                <a:cs typeface="+mn-lt"/>
              </a:rPr>
              <a:t>Help</a:t>
            </a:r>
            <a:r>
              <a:rPr lang="zh-TW" altLang="en-US" dirty="0">
                <a:highlight>
                  <a:srgbClr val="FFFFFF"/>
                </a:highlight>
                <a:ea typeface="+mn-lt"/>
                <a:cs typeface="+mn-lt"/>
              </a:rPr>
              <a:t> </a:t>
            </a:r>
            <a:r>
              <a:rPr lang="en-US" altLang="zh-TW">
                <a:highlight>
                  <a:srgbClr val="FFFFFF"/>
                </a:highlight>
                <a:ea typeface="+mn-lt"/>
                <a:cs typeface="+mn-lt"/>
              </a:rPr>
              <a:t>for</a:t>
            </a:r>
            <a:r>
              <a:rPr lang="zh-TW" altLang="en-US" dirty="0">
                <a:highlight>
                  <a:srgbClr val="FFFFFF"/>
                </a:highlight>
                <a:ea typeface="+mn-lt"/>
                <a:cs typeface="+mn-lt"/>
              </a:rPr>
              <a:t> </a:t>
            </a:r>
            <a:r>
              <a:rPr lang="en-US" altLang="zh-TW">
                <a:highlight>
                  <a:srgbClr val="FFFFFF"/>
                </a:highlight>
                <a:ea typeface="+mn-lt"/>
                <a:cs typeface="+mn-lt"/>
              </a:rPr>
              <a:t>installing</a:t>
            </a:r>
            <a:r>
              <a:rPr lang="zh-TW" altLang="en-US" dirty="0">
                <a:highlight>
                  <a:srgbClr val="FFFFFF"/>
                </a:highlight>
                <a:ea typeface="+mn-lt"/>
                <a:cs typeface="+mn-lt"/>
              </a:rPr>
              <a:t> </a:t>
            </a:r>
            <a:r>
              <a:rPr lang="en-US" altLang="zh-TW">
                <a:highlight>
                  <a:srgbClr val="FFFFFF"/>
                </a:highlight>
                <a:ea typeface="+mn-lt"/>
                <a:cs typeface="+mn-lt"/>
              </a:rPr>
              <a:t>all</a:t>
            </a:r>
            <a:r>
              <a:rPr lang="zh-TW" altLang="en-US" dirty="0">
                <a:highlight>
                  <a:srgbClr val="FFFFFF"/>
                </a:highlight>
                <a:ea typeface="+mn-lt"/>
                <a:cs typeface="+mn-lt"/>
              </a:rPr>
              <a:t> </a:t>
            </a:r>
            <a:r>
              <a:rPr lang="en-US" altLang="zh-TW">
                <a:highlight>
                  <a:srgbClr val="FFFFFF"/>
                </a:highlight>
                <a:ea typeface="+mn-lt"/>
                <a:cs typeface="+mn-lt"/>
              </a:rPr>
              <a:t>the</a:t>
            </a:r>
            <a:r>
              <a:rPr lang="zh-TW" altLang="en-US" dirty="0">
                <a:highlight>
                  <a:srgbClr val="FFFFFF"/>
                </a:highlight>
                <a:ea typeface="+mn-lt"/>
                <a:cs typeface="+mn-lt"/>
              </a:rPr>
              <a:t> </a:t>
            </a:r>
            <a:r>
              <a:rPr lang="en-US" altLang="zh-TW">
                <a:highlight>
                  <a:srgbClr val="FFFFFF"/>
                </a:highlight>
                <a:ea typeface="+mn-lt"/>
                <a:cs typeface="+mn-lt"/>
              </a:rPr>
              <a:t>library</a:t>
            </a:r>
            <a:r>
              <a:rPr lang="zh-TW" altLang="en-US" dirty="0">
                <a:highlight>
                  <a:srgbClr val="FFFFFF"/>
                </a:highlight>
                <a:ea typeface="+mn-lt"/>
                <a:cs typeface="+mn-lt"/>
              </a:rPr>
              <a:t> </a:t>
            </a:r>
            <a:endParaRPr lang="zh-TW" dirty="0"/>
          </a:p>
          <a:p>
            <a:pPr>
              <a:buSzPct val="114999"/>
            </a:pPr>
            <a:endParaRPr lang="zh-TW" altLang="en-US" dirty="0">
              <a:ea typeface="新細明體"/>
            </a:endParaRPr>
          </a:p>
        </p:txBody>
      </p:sp>
      <p:pic>
        <p:nvPicPr>
          <p:cNvPr id="4" name="圖片 3" descr="一張含有 文字, 螢幕擷取畫面, 字型, 數字 的圖片&#10;&#10;AI 產生的內容可能不正確。">
            <a:extLst>
              <a:ext uri="{FF2B5EF4-FFF2-40B4-BE49-F238E27FC236}">
                <a16:creationId xmlns:a16="http://schemas.microsoft.com/office/drawing/2014/main" id="{343292EE-0DF5-8ABE-6E78-C56764BF41AE}"/>
              </a:ext>
            </a:extLst>
          </p:cNvPr>
          <p:cNvPicPr>
            <a:picLocks noChangeAspect="1"/>
          </p:cNvPicPr>
          <p:nvPr/>
        </p:nvPicPr>
        <p:blipFill>
          <a:blip r:embed="rId2"/>
          <a:stretch>
            <a:fillRect/>
          </a:stretch>
        </p:blipFill>
        <p:spPr>
          <a:xfrm>
            <a:off x="8841157" y="4821477"/>
            <a:ext cx="2609850" cy="1828800"/>
          </a:xfrm>
          <a:prstGeom prst="rect">
            <a:avLst/>
          </a:prstGeom>
        </p:spPr>
      </p:pic>
    </p:spTree>
    <p:extLst>
      <p:ext uri="{BB962C8B-B14F-4D97-AF65-F5344CB8AC3E}">
        <p14:creationId xmlns:p14="http://schemas.microsoft.com/office/powerpoint/2010/main" val="12086455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05FD1E-3A9A-668D-ECA8-88804F670793}"/>
              </a:ext>
            </a:extLst>
          </p:cNvPr>
          <p:cNvSpPr>
            <a:spLocks noGrp="1"/>
          </p:cNvSpPr>
          <p:nvPr>
            <p:ph type="title"/>
          </p:nvPr>
        </p:nvSpPr>
        <p:spPr/>
        <p:txBody>
          <a:bodyPr>
            <a:normAutofit/>
          </a:bodyPr>
          <a:lstStyle/>
          <a:p>
            <a:r>
              <a:rPr lang="en-US" sz="4000" dirty="0">
                <a:solidFill>
                  <a:srgbClr val="000000"/>
                </a:solidFill>
                <a:highlight>
                  <a:srgbClr val="FFFFFF"/>
                </a:highlight>
                <a:ea typeface="+mj-lt"/>
                <a:cs typeface="+mj-lt"/>
              </a:rPr>
              <a:t>Possible function and future problem </a:t>
            </a:r>
            <a:endParaRPr lang="zh-TW" dirty="0"/>
          </a:p>
        </p:txBody>
      </p:sp>
      <p:sp>
        <p:nvSpPr>
          <p:cNvPr id="3" name="內容版面配置區 2">
            <a:extLst>
              <a:ext uri="{FF2B5EF4-FFF2-40B4-BE49-F238E27FC236}">
                <a16:creationId xmlns:a16="http://schemas.microsoft.com/office/drawing/2014/main" id="{06820544-6516-403D-2FB7-E567C69236BD}"/>
              </a:ext>
            </a:extLst>
          </p:cNvPr>
          <p:cNvSpPr>
            <a:spLocks noGrp="1"/>
          </p:cNvSpPr>
          <p:nvPr>
            <p:ph idx="1"/>
          </p:nvPr>
        </p:nvSpPr>
        <p:spPr/>
        <p:txBody>
          <a:bodyPr/>
          <a:lstStyle/>
          <a:p>
            <a:r>
              <a:rPr lang="en-US">
                <a:highlight>
                  <a:srgbClr val="FFFFFF"/>
                </a:highlight>
                <a:ea typeface="+mn-lt"/>
                <a:cs typeface="+mn-lt"/>
              </a:rPr>
              <a:t>Music and background: Let the user enjoy the story more. </a:t>
            </a:r>
            <a:endParaRPr lang="zh-TW" altLang="en-US" dirty="0">
              <a:highlight>
                <a:srgbClr val="FFFFFF"/>
              </a:highlight>
              <a:latin typeface="Times New Roman"/>
              <a:ea typeface="新細明體"/>
              <a:cs typeface="Times New Roman"/>
            </a:endParaRPr>
          </a:p>
          <a:p>
            <a:pPr>
              <a:buSzPct val="114999"/>
            </a:pPr>
            <a:r>
              <a:rPr lang="en-US" dirty="0">
                <a:highlight>
                  <a:srgbClr val="FFFFFF"/>
                </a:highlight>
                <a:ea typeface="+mn-lt"/>
                <a:cs typeface="+mn-lt"/>
              </a:rPr>
              <a:t>VPN problem: Now the Gemini API can not be called from the Hong Kong area. So need VPN to call and apply. But Google already say that it will open the Hong Kong area limitation. Now we can already use the website version of Gemini. So this problem should be fix very soon in the future. In that time did not need to use VPN anymore. </a:t>
            </a:r>
            <a:endParaRPr lang="zh-TW" dirty="0"/>
          </a:p>
          <a:p>
            <a:pPr>
              <a:buSzPct val="114999"/>
            </a:pPr>
            <a:r>
              <a:rPr lang="en-US" sz="2000">
                <a:solidFill>
                  <a:srgbClr val="000000"/>
                </a:solidFill>
                <a:highlight>
                  <a:srgbClr val="FFFFFF"/>
                </a:highlight>
                <a:latin typeface="Garamond"/>
                <a:ea typeface="新細明體"/>
                <a:cs typeface="Times New Roman"/>
              </a:rPr>
              <a:t>The voice input may be affected by VPN.</a:t>
            </a:r>
            <a:endParaRPr lang="en-US" sz="2000">
              <a:solidFill>
                <a:srgbClr val="000000"/>
              </a:solidFill>
              <a:highlight>
                <a:srgbClr val="C6C6C6"/>
              </a:highlight>
              <a:latin typeface="Garamond"/>
              <a:ea typeface="新細明體"/>
              <a:cs typeface="Times New Roman"/>
            </a:endParaRPr>
          </a:p>
          <a:p>
            <a:pPr>
              <a:buSzPct val="114999"/>
            </a:pPr>
            <a:endParaRPr lang="zh-TW" altLang="en-US" dirty="0">
              <a:ea typeface="新細明體"/>
            </a:endParaRPr>
          </a:p>
        </p:txBody>
      </p:sp>
    </p:spTree>
    <p:extLst>
      <p:ext uri="{BB962C8B-B14F-4D97-AF65-F5344CB8AC3E}">
        <p14:creationId xmlns:p14="http://schemas.microsoft.com/office/powerpoint/2010/main" val="4073503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9AE5EF-F074-797C-6431-A69254EE927A}"/>
              </a:ext>
            </a:extLst>
          </p:cNvPr>
          <p:cNvSpPr>
            <a:spLocks noGrp="1"/>
          </p:cNvSpPr>
          <p:nvPr>
            <p:ph type="title"/>
          </p:nvPr>
        </p:nvSpPr>
        <p:spPr/>
        <p:txBody>
          <a:bodyPr/>
          <a:lstStyle/>
          <a:p>
            <a:r>
              <a:rPr lang="zh-TW" altLang="en-US">
                <a:ea typeface="微軟正黑體"/>
              </a:rPr>
              <a:t>Demo</a:t>
            </a:r>
            <a:endParaRPr lang="zh-TW" altLang="en-US" dirty="0">
              <a:ea typeface="微軟正黑體"/>
            </a:endParaRPr>
          </a:p>
        </p:txBody>
      </p:sp>
      <p:sp>
        <p:nvSpPr>
          <p:cNvPr id="3" name="內容版面配置區 2">
            <a:extLst>
              <a:ext uri="{FF2B5EF4-FFF2-40B4-BE49-F238E27FC236}">
                <a16:creationId xmlns:a16="http://schemas.microsoft.com/office/drawing/2014/main" id="{0F8216CC-8D56-A31B-09A0-1E9189802CB9}"/>
              </a:ext>
            </a:extLst>
          </p:cNvPr>
          <p:cNvSpPr>
            <a:spLocks noGrp="1"/>
          </p:cNvSpPr>
          <p:nvPr>
            <p:ph idx="1"/>
          </p:nvPr>
        </p:nvSpPr>
        <p:spPr/>
        <p:txBody>
          <a:bodyPr/>
          <a:lstStyle/>
          <a:p>
            <a:pPr marL="0" indent="0">
              <a:buNone/>
            </a:pPr>
            <a:r>
              <a:rPr lang="en-US" dirty="0">
                <a:ea typeface="+mn-lt"/>
                <a:cs typeface="+mn-lt"/>
                <a:hlinkClick r:id="rId2"/>
              </a:rPr>
              <a:t>4月21日.mp4</a:t>
            </a:r>
            <a:endParaRPr lang="zh-TW" altLang="en-US"/>
          </a:p>
        </p:txBody>
      </p:sp>
    </p:spTree>
    <p:extLst>
      <p:ext uri="{BB962C8B-B14F-4D97-AF65-F5344CB8AC3E}">
        <p14:creationId xmlns:p14="http://schemas.microsoft.com/office/powerpoint/2010/main" val="325970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A18EDD-B2BC-006E-1D5B-0E141883538E}"/>
              </a:ext>
            </a:extLst>
          </p:cNvPr>
          <p:cNvSpPr>
            <a:spLocks noGrp="1"/>
          </p:cNvSpPr>
          <p:nvPr>
            <p:ph type="title"/>
          </p:nvPr>
        </p:nvSpPr>
        <p:spPr>
          <a:xfrm>
            <a:off x="1295402" y="660160"/>
            <a:ext cx="9601196" cy="2452233"/>
          </a:xfrm>
        </p:spPr>
        <p:txBody>
          <a:bodyPr>
            <a:normAutofit/>
          </a:bodyPr>
          <a:lstStyle/>
          <a:p>
            <a:r>
              <a:rPr lang="zh-TW" altLang="en-US" sz="6000">
                <a:ea typeface="微軟正黑體"/>
              </a:rPr>
              <a:t>End</a:t>
            </a:r>
            <a:endParaRPr lang="zh-TW" altLang="en-US" sz="6000"/>
          </a:p>
        </p:txBody>
      </p:sp>
      <p:sp>
        <p:nvSpPr>
          <p:cNvPr id="3" name="內容版面配置區 2">
            <a:extLst>
              <a:ext uri="{FF2B5EF4-FFF2-40B4-BE49-F238E27FC236}">
                <a16:creationId xmlns:a16="http://schemas.microsoft.com/office/drawing/2014/main" id="{70BE7F72-3EB5-9F13-9045-E489CE4C08C6}"/>
              </a:ext>
            </a:extLst>
          </p:cNvPr>
          <p:cNvSpPr>
            <a:spLocks noGrp="1"/>
          </p:cNvSpPr>
          <p:nvPr>
            <p:ph idx="1"/>
          </p:nvPr>
        </p:nvSpPr>
        <p:spPr>
          <a:xfrm>
            <a:off x="1413457" y="2535467"/>
            <a:ext cx="9601196" cy="3318936"/>
          </a:xfrm>
        </p:spPr>
        <p:txBody>
          <a:bodyPr/>
          <a:lstStyle/>
          <a:p>
            <a:endParaRPr lang="zh-TW" altLang="en-US" dirty="0">
              <a:ea typeface="新細明體"/>
            </a:endParaRPr>
          </a:p>
        </p:txBody>
      </p:sp>
    </p:spTree>
    <p:extLst>
      <p:ext uri="{BB962C8B-B14F-4D97-AF65-F5344CB8AC3E}">
        <p14:creationId xmlns:p14="http://schemas.microsoft.com/office/powerpoint/2010/main" val="173487373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寬螢幕</PresentationFormat>
  <Slides>28</Slides>
  <Notes>0</Notes>
  <HiddenSlides>0</HiddenSlides>
  <ScaleCrop>false</ScaleCrop>
  <HeadingPairs>
    <vt:vector size="4" baseType="variant">
      <vt:variant>
        <vt:lpstr>佈景主題</vt:lpstr>
      </vt:variant>
      <vt:variant>
        <vt:i4>1</vt:i4>
      </vt:variant>
      <vt:variant>
        <vt:lpstr>投影片標題</vt:lpstr>
      </vt:variant>
      <vt:variant>
        <vt:i4>28</vt:i4>
      </vt:variant>
    </vt:vector>
  </HeadingPairs>
  <TitlesOfParts>
    <vt:vector size="29" baseType="lpstr">
      <vt:lpstr>Organic</vt:lpstr>
      <vt:lpstr>Interactive Storytelling for Elderly-Friendly RPG Games </vt:lpstr>
      <vt:lpstr>Background and Problem Statement</vt:lpstr>
      <vt:lpstr>Objectives and Outcome</vt:lpstr>
      <vt:lpstr>Project Methodology</vt:lpstr>
      <vt:lpstr>Game scenes</vt:lpstr>
      <vt:lpstr>Program structure </vt:lpstr>
      <vt:lpstr>Story generation </vt:lpstr>
      <vt:lpstr>System design </vt:lpstr>
      <vt:lpstr>Configuration Management Layer: </vt:lpstr>
      <vt:lpstr>Data Handling Layer</vt:lpstr>
      <vt:lpstr>AI Generation Engine</vt:lpstr>
      <vt:lpstr>GUI Interaction Layer</vt:lpstr>
      <vt:lpstr>Workload </vt:lpstr>
      <vt:lpstr>Elderly-friendly function</vt:lpstr>
      <vt:lpstr>Dynamic Font Scaling System </vt:lpstr>
      <vt:lpstr>The Canvas and Scrollbar mechanism</vt:lpstr>
      <vt:lpstr>Cantonese Audio Reading </vt:lpstr>
      <vt:lpstr>Voice Command Input</vt:lpstr>
      <vt:lpstr>Heartwarming AI Script Generation </vt:lpstr>
      <vt:lpstr>Time travel(時光倒流) and History(查閱往事) </vt:lpstr>
      <vt:lpstr>Simplified save and script Management </vt:lpstr>
      <vt:lpstr>Program evaluation mechanism</vt:lpstr>
      <vt:lpstr>Result</vt:lpstr>
      <vt:lpstr>Human Evaluation </vt:lpstr>
      <vt:lpstr>Requirement</vt:lpstr>
      <vt:lpstr>Possible function and future problem </vt:lpstr>
      <vt:lpstr>Demo</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374</cp:revision>
  <dcterms:created xsi:type="dcterms:W3CDTF">2026-01-09T11:59:39Z</dcterms:created>
  <dcterms:modified xsi:type="dcterms:W3CDTF">2026-07-05T11:17:44Z</dcterms:modified>
</cp:coreProperties>
</file>